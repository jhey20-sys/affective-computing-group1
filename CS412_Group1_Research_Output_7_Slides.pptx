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earch output" id="{608305f0-fb5d-192c-bcad-f8210a697a91}">
          <p14:sldIdLst>
            <p14:sldId id="256"/>
            <p14:sldId id="257"/>
            <p14:sldId id="258"/>
            <p14:sldId id="259"/>
            <p14:sldId id="260"/>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035"/>
                </a:solidFill>
                <a:latin typeface="+mn-lt"/>
              </a:defRPr>
            </a:pPr>
            <a:r>
              <a:rPr sz="1400" b="0" i="0" u="none" strike="noStrike">
                <a:solidFill>
                  <a:srgbClr val="1B1035"/>
                </a:solidFill>
                <a:latin typeface="+mn-lt"/>
              </a:rPr>
              <a:t>Class activity before recording</a:t>
            </a:r>
          </a:p>
        </c:rich>
      </c:tx>
      <c:layout/>
      <c:overlay val="0"/>
    </c:title>
    <c:autoTitleDeleted val="0"/>
    <c:plotArea>
      <c:layout/>
      <c:barChart>
        <c:barDir val="bar"/>
        <c:grouping val="clustered"/>
        <c:varyColors val="0"/>
        <c:ser>
          <c:idx val="0"/>
          <c:order val="0"/>
          <c:tx>
            <c:strRef>
              <c:f>Sheet1!$B$1</c:f>
              <c:strCache>
                <c:ptCount val="1"/>
                <c:pt idx="0">
                  <c:v>Recordings</c:v>
                </c:pt>
              </c:strCache>
            </c:strRef>
          </c:tx>
          <c:spPr>
            <a:solidFill>
              <a:srgbClr val="35206B"/>
            </a:solidFill>
            <a:effectLst/>
          </c:spPr>
          <c:invertIfNegative val="0"/>
          <c:dLbls>
            <c:numFmt formatCode="#,##0" sourceLinked="0"/>
            <c:txPr>
              <a:bodyPr/>
              <a:lstStyle/>
              <a:p>
                <a:pPr>
                  <a:defRPr b="0" i="0" strike="noStrike" sz="1200" u="none">
                    <a:solidFill>
                      <a:srgbClr val="1B1035"/>
                    </a:solidFill>
                    <a:latin typeface="+mn-lt"/>
                  </a:defRPr>
                </a:pPr>
              </a:p>
            </c:txPr>
            <c:showLegendKey val="0"/>
            <c:showVal val="1"/>
            <c:showCatName val="0"/>
            <c:showSerName val="0"/>
            <c:showPercent val="0"/>
            <c:showBubbleSize val="0"/>
            <c:showLeaderLines val="0"/>
          </c:dLbls>
          <c:cat>
            <c:multiLvlStrRef>
              <c:f>Sheet1!$A$2:$A$7</c:f>
              <c:multiLvlStrCache>
                <c:ptCount val="6"/>
                <c:lvl>
                  <c:pt idx="0">
                    <c:v>Quiz</c:v>
                  </c:pt>
                  <c:pt idx="1">
                    <c:v>Examination</c:v>
                  </c:pt>
                  <c:pt idx="2">
                    <c:v>Lecture/Discussion</c:v>
                  </c:pt>
                  <c:pt idx="3">
                    <c:v>Project/Practical</c:v>
                  </c:pt>
                  <c:pt idx="4">
                    <c:v>Presentation/Reporting</c:v>
                  </c:pt>
                  <c:pt idx="5">
                    <c:v>Laboratory</c:v>
                  </c:pt>
                </c:lvl>
              </c:multiLvlStrCache>
            </c:multiLvlStrRef>
          </c:cat>
          <c:val>
            <c:numRef>
              <c:f>Sheet1!$B$2:$B$7</c:f>
              <c:numCache>
                <c:formatCode>General</c:formatCode>
                <c:ptCount val="6"/>
                <c:pt idx="0">
                  <c:v>11</c:v>
                </c:pt>
                <c:pt idx="1">
                  <c:v>9</c:v>
                </c:pt>
                <c:pt idx="2">
                  <c:v>4</c:v>
                </c:pt>
                <c:pt idx="3">
                  <c:v>3</c:v>
                </c:pt>
                <c:pt idx="4">
                  <c:v>2</c:v>
                </c:pt>
                <c:pt idx="5">
                  <c:v>1</c:v>
                </c:pt>
              </c:numCache>
            </c:numRef>
          </c:val>
        </c:ser>
        <c:dLbls>
          <c:numFmt formatCode="#,##0" sourceLinked="0"/>
          <c:txPr>
            <a:bodyPr/>
            <a:lstStyle/>
            <a:p>
              <a:pPr>
                <a:defRPr b="0" i="0" strike="noStrike" sz="1200" u="none">
                  <a:solidFill>
                    <a:srgbClr val="1B103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446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035"/>
                </a:solidFill>
                <a:latin typeface="+mn-lt"/>
              </a:defRPr>
            </a:pPr>
            <a:r>
              <a:rPr sz="1400" b="0" i="0" u="none" strike="noStrike">
                <a:solidFill>
                  <a:srgbClr val="1B1035"/>
                </a:solidFill>
                <a:latin typeface="+mn-lt"/>
              </a:rPr>
              <a:t>Spoken word</a:t>
            </a:r>
          </a:p>
        </c:rich>
      </c:tx>
      <c:layout/>
      <c:overlay val="0"/>
    </c:title>
    <c:autoTitleDeleted val="0"/>
    <c:plotArea>
      <c:layout/>
      <c:barChart>
        <c:barDir val="bar"/>
        <c:grouping val="clustered"/>
        <c:varyColors val="0"/>
        <c:ser>
          <c:idx val="0"/>
          <c:order val="0"/>
          <c:tx>
            <c:strRef>
              <c:f>Sheet1!$B$1</c:f>
              <c:strCache>
                <c:ptCount val="1"/>
                <c:pt idx="0">
                  <c:v>Recordings</c:v>
                </c:pt>
              </c:strCache>
            </c:strRef>
          </c:tx>
          <c:spPr>
            <a:solidFill>
              <a:srgbClr val="B5367A"/>
            </a:solidFill>
            <a:effectLst/>
          </c:spPr>
          <c:invertIfNegative val="0"/>
          <c:dLbls>
            <c:numFmt formatCode="#,##0" sourceLinked="0"/>
            <c:txPr>
              <a:bodyPr/>
              <a:lstStyle/>
              <a:p>
                <a:pPr>
                  <a:defRPr b="0" i="0" strike="noStrike" sz="1200" u="none">
                    <a:solidFill>
                      <a:srgbClr val="1B1035"/>
                    </a:solidFill>
                    <a:latin typeface="+mn-lt"/>
                  </a:defRPr>
                </a:pPr>
              </a:p>
            </c:txPr>
            <c:showLegendKey val="0"/>
            <c:showVal val="1"/>
            <c:showCatName val="0"/>
            <c:showSerName val="0"/>
            <c:showPercent val="0"/>
            <c:showBubbleSize val="0"/>
            <c:showLeaderLines val="0"/>
          </c:dLbls>
          <c:cat>
            <c:multiLvlStrRef>
              <c:f>Sheet1!$A$2:$A$8</c:f>
              <c:multiLvlStrCache>
                <c:ptCount val="7"/>
                <c:lvl>
                  <c:pt idx="0">
                    <c:v>Kapoy</c:v>
                  </c:pt>
                  <c:pt idx="1">
                    <c:v>Grabe</c:v>
                  </c:pt>
                  <c:pt idx="2">
                    <c:v>Lingaw</c:v>
                  </c:pt>
                  <c:pt idx="3">
                    <c:v>Lisod</c:v>
                  </c:pt>
                  <c:pt idx="4">
                    <c:v>Salamat</c:v>
                  </c:pt>
                  <c:pt idx="5">
                    <c:v>Sayon</c:v>
                  </c:pt>
                  <c:pt idx="6">
                    <c:v>Libog*</c:v>
                  </c:pt>
                </c:lvl>
              </c:multiLvlStrCache>
            </c:multiLvlStrRef>
          </c:cat>
          <c:val>
            <c:numRef>
              <c:f>Sheet1!$B$2:$B$8</c:f>
              <c:numCache>
                <c:formatCode>General</c:formatCode>
                <c:ptCount val="7"/>
                <c:pt idx="0">
                  <c:v>13</c:v>
                </c:pt>
                <c:pt idx="1">
                  <c:v>3</c:v>
                </c:pt>
                <c:pt idx="2">
                  <c:v>3</c:v>
                </c:pt>
                <c:pt idx="3">
                  <c:v>3</c:v>
                </c:pt>
                <c:pt idx="4">
                  <c:v>3</c:v>
                </c:pt>
                <c:pt idx="5">
                  <c:v>3</c:v>
                </c:pt>
                <c:pt idx="6">
                  <c:v>2</c:v>
                </c:pt>
              </c:numCache>
            </c:numRef>
          </c:val>
        </c:ser>
        <c:dLbls>
          <c:numFmt formatCode="#,##0" sourceLinked="0"/>
          <c:txPr>
            <a:bodyPr/>
            <a:lstStyle/>
            <a:p>
              <a:pPr>
                <a:defRPr b="0" i="0" strike="noStrike" sz="1200" u="none">
                  <a:solidFill>
                    <a:srgbClr val="1B103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446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our assigned section, and the study. We recorded 30 first-year CS students saying one Bisaya word right after class, against a required minimum of 40. Completed outputs: the coded dataset, a 67-feature acoustic dataset, spectrogram and waveform figures, six evaluated models, a prototype that predicts affect from a new WAV file, and the written report. (About 1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participant gave consent first, then, immediately after class, said one word from the Bisaya list and rated their own valence and arousal from 1 to 5. We also logged the class activity, session, and a free-text feeling under an anonymous code. Quizzes and exams make up two thirds of the sessions, and Kapoy is 13 of the 30 words. Libog was used twice although it is not on the protocol list. Video was also recorded alongside the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analysed dataset has one row per recording: 11 metadata and label columns, then 67 acoustic features. The spectrogram images are a second feature set for the CNN. Video was recorded but, because our scope is audio only, no facial features were analysed. The target labels are binary: valence positive if 4 or 5, otherwise non-positive (12 vs 18), and arousal high if 4 or 5, otherwise low-to-moderate (10 vs 20). Context columns such as word and activity are never used as predictors.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recording goes through the same steps: resample from 192 kHz stereo to 16 kHz mono, trim leading and trailing silence, and peak-normalise. Then we extract 67 handcrafted features: 52 MFCC statistics, 4 pitch features from pYIN, 4 energy features, 2 zero-crossing-rate features, and 5 spectral and timing features. Separately, each clip becomes a mel-spectrogram image and a frozen ResNet18 turns it into 512 numbers. The figure shows one real recording: the waveform with its energy envelope, and the spectrogram with the pitch line. Because peak normalisation is applied, absolute loudness is not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logistic regression, an RBF support vector machine and a random forest, each on two feature sets, against a majority-class baseline. Testing is leave-one-participant-out: train on 29 participants, test on the one left out, and repeat 30 times. Standardisation and PCA to 5 components are fitted inside each training fold only, so the test participant never leaks into training. All models use balanced class weights because the classes are uneven. The permutation test reruns the whole evaluation 1000 times with shuffled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highest-scoring configuration for each target. For valence, handcrafted features with logistic regression got 22 of 30 right: 73.3% accuracy and macro-F1 0.72, against a 60% majority baseline; precision and recall are 0.78 for non-positive and 0.67 for positive. For arousal, the best was spectrogram CNN with logistic regression at 60%, which is below the 66.7% from always guessing low-to-moderate; only 4 of 10 high-arousal participants were detected. Right: all six configurations. The valence permutation p is 0.018 with 1000 shuffles, but the confidence interval still includes the baseline and we picked the best of six, so we call it suggestive, not conclusive.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Findings: valence shows a suggestive signal, but the interval includes the baseline and we chose the best of six models, so it is not conclusive. Arousal shows no signal. When we hold the word constant, valence macro-F1 drops from 0.72 to 0.58, close to chance, so part of the result reflects which word was said. Limitations: 30 instead of 40 observations, first-year students only, Kapoy dominates the words, model selection used the same data, and some clips contain extra sound around the word, which inflates duration. Recommendations: pool the class datasets, balance the words, keep a separate validation set, standardise the recording setup, and trim clips before re-running.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72237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931920"/>
            <a:ext cx="7223760" cy="201168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CS412 Affective Computing  ·  Group 1</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CS412 Affective Computing  ·  Group 1</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slideLayout" Target="../slideLayouts/slideLayout4.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2-1.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bg1"/>
                </a:solidFill>
              </a:rPr>
              <a:t>1. Research Output Overview</a:t>
            </a:r>
            <a:endParaRPr lang="en-US" sz="3400" dirty="0"/>
          </a:p>
        </p:txBody>
      </p:sp>
      <p:sp>
        <p:nvSpPr>
          <p:cNvPr id="3" name="Study title"/>
          <p:cNvSpPr txBox="1"/>
          <p:nvPr/>
        </p:nvSpPr>
        <p:spPr>
          <a:xfrm>
            <a:off x="548640" y="1234440"/>
            <a:ext cx="11064240" cy="548640"/>
          </a:xfrm>
          <a:prstGeom prst="rect">
            <a:avLst/>
          </a:prstGeom>
          <a:noFill/>
          <a:ln/>
        </p:spPr>
        <p:txBody>
          <a:bodyPr wrap="square" lIns="0" tIns="0" rIns="0" bIns="0" rtlCol="0" anchor="ctr"/>
          <a:lstStyle/>
          <a:p>
            <a:pPr algn="ctr" indent="0" marL="0">
              <a:buNone/>
            </a:pPr>
            <a:r>
              <a:rPr lang="en-US" sz="2400" b="1" dirty="0">
                <a:solidFill>
                  <a:schemeClr val="accent4"/>
                </a:solidFill>
                <a:latin typeface="Cambria" pitchFamily="34" charset="0"/>
                <a:ea typeface="Cambria" pitchFamily="34" charset="-122"/>
                <a:cs typeface="Cambria" pitchFamily="34" charset="-120"/>
              </a:rPr>
              <a:t>Bisaya Post-Class Speech and Affect Recognition</a:t>
            </a:r>
            <a:endParaRPr lang="en-US" sz="2400" dirty="0"/>
          </a:p>
        </p:txBody>
      </p:sp>
      <p:sp>
        <p:nvSpPr>
          <p:cNvPr id="4" name="Group members card"/>
          <p:cNvSpPr/>
          <p:nvPr/>
        </p:nvSpPr>
        <p:spPr>
          <a:xfrm>
            <a:off x="548640" y="2103120"/>
            <a:ext cx="5120640" cy="1097280"/>
          </a:xfrm>
          <a:prstGeom prst="roundRect">
            <a:avLst>
              <a:gd name="adj" fmla="val 10000"/>
            </a:avLst>
          </a:prstGeom>
          <a:solidFill>
            <a:schemeClr val="accent3"/>
          </a:solidFill>
          <a:ln/>
        </p:spPr>
      </p:sp>
      <p:sp>
        <p:nvSpPr>
          <p:cNvPr id="5" name="Group members circle"/>
          <p:cNvSpPr/>
          <p:nvPr/>
        </p:nvSpPr>
        <p:spPr>
          <a:xfrm>
            <a:off x="777240" y="2350008"/>
            <a:ext cx="603504" cy="603504"/>
          </a:xfrm>
          <a:prstGeom prst="ellipse">
            <a:avLst/>
          </a:prstGeom>
          <a:solidFill>
            <a:schemeClr val="accent1"/>
          </a:solidFill>
          <a:ln/>
        </p:spPr>
      </p:sp>
      <p:pic>
        <p:nvPicPr>
          <p:cNvPr id="6" name="Group members icon" descr="Group members">    </p:cNvPr>
          <p:cNvPicPr>
            <a:picLocks noChangeAspect="1"/>
          </p:cNvPicPr>
          <p:nvPr/>
        </p:nvPicPr>
        <p:blipFill>
          <a:blip r:embed="rId1"/>
          <a:stretch>
            <a:fillRect/>
          </a:stretch>
        </p:blipFill>
        <p:spPr>
          <a:xfrm>
            <a:off x="928116" y="2500884"/>
            <a:ext cx="301752" cy="301752"/>
          </a:xfrm>
          <a:prstGeom prst="rect">
            <a:avLst/>
          </a:prstGeom>
        </p:spPr>
      </p:pic>
      <p:sp>
        <p:nvSpPr>
          <p:cNvPr id="7" name="Group members heading"/>
          <p:cNvSpPr txBox="1"/>
          <p:nvPr/>
        </p:nvSpPr>
        <p:spPr>
          <a:xfrm>
            <a:off x="1600200" y="2258568"/>
            <a:ext cx="3931920" cy="347472"/>
          </a:xfrm>
          <a:prstGeom prst="rect">
            <a:avLst/>
          </a:prstGeom>
          <a:noFill/>
          <a:ln/>
        </p:spPr>
        <p:txBody>
          <a:bodyPr wrap="square" lIns="0" tIns="0" rIns="0" bIns="0" rtlCol="0" anchor="ctr"/>
          <a:lstStyle/>
          <a:p>
            <a:pPr indent="0" marL="0">
              <a:buNone/>
            </a:pPr>
            <a:r>
              <a:rPr lang="en-US" sz="1400" b="1" dirty="0">
                <a:solidFill>
                  <a:schemeClr val="accent4"/>
                </a:solidFill>
              </a:rPr>
              <a:t>Group members</a:t>
            </a:r>
            <a:endParaRPr lang="en-US" sz="1400" dirty="0"/>
          </a:p>
        </p:txBody>
      </p:sp>
      <p:sp>
        <p:nvSpPr>
          <p:cNvPr id="8" name="Group members value"/>
          <p:cNvSpPr txBox="1"/>
          <p:nvPr/>
        </p:nvSpPr>
        <p:spPr>
          <a:xfrm>
            <a:off x="1600200" y="2606040"/>
            <a:ext cx="3931920" cy="457200"/>
          </a:xfrm>
          <a:prstGeom prst="rect">
            <a:avLst/>
          </a:prstGeom>
          <a:noFill/>
          <a:ln/>
        </p:spPr>
        <p:txBody>
          <a:bodyPr wrap="square" lIns="0" tIns="0" rIns="0" bIns="0" rtlCol="0" anchor="ctr"/>
          <a:lstStyle/>
          <a:p>
            <a:pPr indent="0" marL="0">
              <a:buNone/>
            </a:pPr>
            <a:r>
              <a:rPr lang="en-US" sz="1800" dirty="0">
                <a:solidFill>
                  <a:schemeClr val="bg1"/>
                </a:solidFill>
              </a:rPr>
              <a:t>[Member names]</a:t>
            </a:r>
            <a:endParaRPr lang="en-US" sz="1800" dirty="0"/>
          </a:p>
        </p:txBody>
      </p:sp>
      <p:sp>
        <p:nvSpPr>
          <p:cNvPr id="9" name="Assigned CS section card"/>
          <p:cNvSpPr/>
          <p:nvPr/>
        </p:nvSpPr>
        <p:spPr>
          <a:xfrm>
            <a:off x="548640" y="3429000"/>
            <a:ext cx="5120640" cy="1097280"/>
          </a:xfrm>
          <a:prstGeom prst="roundRect">
            <a:avLst>
              <a:gd name="adj" fmla="val 10000"/>
            </a:avLst>
          </a:prstGeom>
          <a:solidFill>
            <a:schemeClr val="accent3"/>
          </a:solidFill>
          <a:ln/>
        </p:spPr>
      </p:sp>
      <p:sp>
        <p:nvSpPr>
          <p:cNvPr id="10" name="Assigned CS section circle"/>
          <p:cNvSpPr/>
          <p:nvPr/>
        </p:nvSpPr>
        <p:spPr>
          <a:xfrm>
            <a:off x="777240" y="3675888"/>
            <a:ext cx="603504" cy="603504"/>
          </a:xfrm>
          <a:prstGeom prst="ellipse">
            <a:avLst/>
          </a:prstGeom>
          <a:solidFill>
            <a:schemeClr val="accent1"/>
          </a:solidFill>
          <a:ln/>
        </p:spPr>
      </p:sp>
      <p:pic>
        <p:nvPicPr>
          <p:cNvPr id="11" name="Assigned CS section icon" descr="Assigned CS section">    </p:cNvPr>
          <p:cNvPicPr>
            <a:picLocks noChangeAspect="1"/>
          </p:cNvPicPr>
          <p:nvPr/>
        </p:nvPicPr>
        <p:blipFill>
          <a:blip r:embed="rId2"/>
          <a:stretch>
            <a:fillRect/>
          </a:stretch>
        </p:blipFill>
        <p:spPr>
          <a:xfrm>
            <a:off x="928116" y="3826764"/>
            <a:ext cx="301752" cy="301752"/>
          </a:xfrm>
          <a:prstGeom prst="rect">
            <a:avLst/>
          </a:prstGeom>
        </p:spPr>
      </p:pic>
      <p:sp>
        <p:nvSpPr>
          <p:cNvPr id="12" name="Assigned CS section heading"/>
          <p:cNvSpPr txBox="1"/>
          <p:nvPr/>
        </p:nvSpPr>
        <p:spPr>
          <a:xfrm>
            <a:off x="1600200" y="3584448"/>
            <a:ext cx="3931920" cy="347472"/>
          </a:xfrm>
          <a:prstGeom prst="rect">
            <a:avLst/>
          </a:prstGeom>
          <a:noFill/>
          <a:ln/>
        </p:spPr>
        <p:txBody>
          <a:bodyPr wrap="square" lIns="0" tIns="0" rIns="0" bIns="0" rtlCol="0" anchor="ctr"/>
          <a:lstStyle/>
          <a:p>
            <a:pPr indent="0" marL="0">
              <a:buNone/>
            </a:pPr>
            <a:r>
              <a:rPr lang="en-US" sz="1400" b="1" dirty="0">
                <a:solidFill>
                  <a:schemeClr val="accent4"/>
                </a:solidFill>
              </a:rPr>
              <a:t>Assigned CS section</a:t>
            </a:r>
            <a:endParaRPr lang="en-US" sz="1400" dirty="0"/>
          </a:p>
        </p:txBody>
      </p:sp>
      <p:sp>
        <p:nvSpPr>
          <p:cNvPr id="13" name="Assigned CS section value"/>
          <p:cNvSpPr txBox="1"/>
          <p:nvPr/>
        </p:nvSpPr>
        <p:spPr>
          <a:xfrm>
            <a:off x="1600200" y="3931920"/>
            <a:ext cx="3931920" cy="457200"/>
          </a:xfrm>
          <a:prstGeom prst="rect">
            <a:avLst/>
          </a:prstGeom>
          <a:noFill/>
          <a:ln/>
        </p:spPr>
        <p:txBody>
          <a:bodyPr wrap="square" lIns="0" tIns="0" rIns="0" bIns="0" rtlCol="0" anchor="ctr"/>
          <a:lstStyle/>
          <a:p>
            <a:pPr indent="0" marL="0">
              <a:buNone/>
            </a:pPr>
            <a:r>
              <a:rPr lang="en-US" sz="1800" dirty="0">
                <a:solidFill>
                  <a:schemeClr val="bg1"/>
                </a:solidFill>
              </a:rPr>
              <a:t>[CS section]  ·  Group 1, 1st Year</a:t>
            </a:r>
            <a:endParaRPr lang="en-US" sz="1800" dirty="0"/>
          </a:p>
        </p:txBody>
      </p:sp>
      <p:sp>
        <p:nvSpPr>
          <p:cNvPr id="14" name="Participants card"/>
          <p:cNvSpPr/>
          <p:nvPr/>
        </p:nvSpPr>
        <p:spPr>
          <a:xfrm>
            <a:off x="548640" y="4754880"/>
            <a:ext cx="5120640" cy="1097280"/>
          </a:xfrm>
          <a:prstGeom prst="roundRect">
            <a:avLst>
              <a:gd name="adj" fmla="val 10000"/>
            </a:avLst>
          </a:prstGeom>
          <a:solidFill>
            <a:schemeClr val="accent3"/>
          </a:solidFill>
          <a:ln/>
        </p:spPr>
      </p:sp>
      <p:sp>
        <p:nvSpPr>
          <p:cNvPr id="15" name="Participants circle"/>
          <p:cNvSpPr/>
          <p:nvPr/>
        </p:nvSpPr>
        <p:spPr>
          <a:xfrm>
            <a:off x="777240" y="5001768"/>
            <a:ext cx="603504" cy="603504"/>
          </a:xfrm>
          <a:prstGeom prst="ellipse">
            <a:avLst/>
          </a:prstGeom>
          <a:solidFill>
            <a:schemeClr val="accent1"/>
          </a:solidFill>
          <a:ln/>
        </p:spPr>
      </p:sp>
      <p:pic>
        <p:nvPicPr>
          <p:cNvPr id="16" name="Participants icon" descr="Participants">    </p:cNvPr>
          <p:cNvPicPr>
            <a:picLocks noChangeAspect="1"/>
          </p:cNvPicPr>
          <p:nvPr/>
        </p:nvPicPr>
        <p:blipFill>
          <a:blip r:embed="rId3"/>
          <a:stretch>
            <a:fillRect/>
          </a:stretch>
        </p:blipFill>
        <p:spPr>
          <a:xfrm>
            <a:off x="928116" y="5152644"/>
            <a:ext cx="301752" cy="301752"/>
          </a:xfrm>
          <a:prstGeom prst="rect">
            <a:avLst/>
          </a:prstGeom>
        </p:spPr>
      </p:pic>
      <p:sp>
        <p:nvSpPr>
          <p:cNvPr id="17" name="Participants heading"/>
          <p:cNvSpPr txBox="1"/>
          <p:nvPr/>
        </p:nvSpPr>
        <p:spPr>
          <a:xfrm>
            <a:off x="1600200" y="4910328"/>
            <a:ext cx="3931920" cy="347472"/>
          </a:xfrm>
          <a:prstGeom prst="rect">
            <a:avLst/>
          </a:prstGeom>
          <a:noFill/>
          <a:ln/>
        </p:spPr>
        <p:txBody>
          <a:bodyPr wrap="square" lIns="0" tIns="0" rIns="0" bIns="0" rtlCol="0" anchor="ctr"/>
          <a:lstStyle/>
          <a:p>
            <a:pPr indent="0" marL="0">
              <a:buNone/>
            </a:pPr>
            <a:r>
              <a:rPr lang="en-US" sz="1400" b="1" dirty="0">
                <a:solidFill>
                  <a:schemeClr val="accent4"/>
                </a:solidFill>
              </a:rPr>
              <a:t>Participants</a:t>
            </a:r>
            <a:endParaRPr lang="en-US" sz="1400" dirty="0"/>
          </a:p>
        </p:txBody>
      </p:sp>
      <p:sp>
        <p:nvSpPr>
          <p:cNvPr id="18" name="Participants value"/>
          <p:cNvSpPr txBox="1"/>
          <p:nvPr/>
        </p:nvSpPr>
        <p:spPr>
          <a:xfrm>
            <a:off x="1600200" y="5257800"/>
            <a:ext cx="3931920" cy="457200"/>
          </a:xfrm>
          <a:prstGeom prst="rect">
            <a:avLst/>
          </a:prstGeom>
          <a:noFill/>
          <a:ln/>
        </p:spPr>
        <p:txBody>
          <a:bodyPr wrap="square" lIns="0" tIns="0" rIns="0" bIns="0" rtlCol="0" anchor="ctr"/>
          <a:lstStyle/>
          <a:p>
            <a:pPr indent="0" marL="0">
              <a:buNone/>
            </a:pPr>
            <a:r>
              <a:rPr lang="en-US" sz="1800" dirty="0">
                <a:solidFill>
                  <a:schemeClr val="bg1"/>
                </a:solidFill>
              </a:rPr>
              <a:t>30 first-year CS students (40 required)</a:t>
            </a:r>
            <a:endParaRPr lang="en-US" sz="1800" dirty="0"/>
          </a:p>
        </p:txBody>
      </p:sp>
      <p:sp>
        <p:nvSpPr>
          <p:cNvPr id="19" name="Outputs card"/>
          <p:cNvSpPr/>
          <p:nvPr/>
        </p:nvSpPr>
        <p:spPr>
          <a:xfrm>
            <a:off x="6035040" y="2103120"/>
            <a:ext cx="5605272" cy="3749040"/>
          </a:xfrm>
          <a:prstGeom prst="roundRect">
            <a:avLst>
              <a:gd name="adj" fmla="val 2927"/>
            </a:avLst>
          </a:prstGeom>
          <a:solidFill>
            <a:schemeClr val="accent3"/>
          </a:solidFill>
          <a:ln/>
        </p:spPr>
      </p:sp>
      <p:sp>
        <p:nvSpPr>
          <p:cNvPr id="20" name="Outputs heading"/>
          <p:cNvSpPr txBox="1"/>
          <p:nvPr/>
        </p:nvSpPr>
        <p:spPr>
          <a:xfrm>
            <a:off x="6355080" y="2286000"/>
            <a:ext cx="5029200" cy="384048"/>
          </a:xfrm>
          <a:prstGeom prst="rect">
            <a:avLst/>
          </a:prstGeom>
          <a:noFill/>
          <a:ln/>
        </p:spPr>
        <p:txBody>
          <a:bodyPr wrap="square" lIns="0" tIns="0" rIns="0" bIns="0" rtlCol="0" anchor="ctr"/>
          <a:lstStyle/>
          <a:p>
            <a:pPr indent="0" marL="0">
              <a:buNone/>
            </a:pPr>
            <a:r>
              <a:rPr lang="en-US" sz="1800" b="1" dirty="0">
                <a:solidFill>
                  <a:schemeClr val="accent4"/>
                </a:solidFill>
              </a:rPr>
              <a:t>Completed outputs</a:t>
            </a:r>
            <a:endParaRPr lang="en-US" sz="1800" dirty="0"/>
          </a:p>
        </p:txBody>
      </p:sp>
      <p:sp>
        <p:nvSpPr>
          <p:cNvPr id="21" name="Output 1 circle"/>
          <p:cNvSpPr/>
          <p:nvPr/>
        </p:nvSpPr>
        <p:spPr>
          <a:xfrm>
            <a:off x="6355080" y="2871216"/>
            <a:ext cx="329184" cy="329184"/>
          </a:xfrm>
          <a:prstGeom prst="ellipse">
            <a:avLst/>
          </a:prstGeom>
          <a:solidFill>
            <a:schemeClr val="accent1"/>
          </a:solidFill>
          <a:ln/>
        </p:spPr>
      </p:sp>
      <p:pic>
        <p:nvPicPr>
          <p:cNvPr id="22" name="Output 1 icon" descr="done">    </p:cNvPr>
          <p:cNvPicPr>
            <a:picLocks noChangeAspect="1"/>
          </p:cNvPicPr>
          <p:nvPr/>
        </p:nvPicPr>
        <p:blipFill>
          <a:blip r:embed="rId4"/>
          <a:stretch>
            <a:fillRect/>
          </a:stretch>
        </p:blipFill>
        <p:spPr>
          <a:xfrm>
            <a:off x="6428232" y="2944368"/>
            <a:ext cx="182880" cy="182880"/>
          </a:xfrm>
          <a:prstGeom prst="rect">
            <a:avLst/>
          </a:prstGeom>
        </p:spPr>
      </p:pic>
      <p:sp>
        <p:nvSpPr>
          <p:cNvPr id="23" name="Output 1 text"/>
          <p:cNvSpPr txBox="1"/>
          <p:nvPr/>
        </p:nvSpPr>
        <p:spPr>
          <a:xfrm>
            <a:off x="6858000" y="2834640"/>
            <a:ext cx="4572000" cy="402336"/>
          </a:xfrm>
          <a:prstGeom prst="rect">
            <a:avLst/>
          </a:prstGeom>
          <a:noFill/>
          <a:ln/>
        </p:spPr>
        <p:txBody>
          <a:bodyPr wrap="square" lIns="0" tIns="0" rIns="0" bIns="0" rtlCol="0" anchor="ctr"/>
          <a:lstStyle/>
          <a:p>
            <a:pPr indent="0" marL="0">
              <a:buNone/>
            </a:pPr>
            <a:r>
              <a:rPr lang="en-US" sz="1700" dirty="0">
                <a:solidFill>
                  <a:schemeClr val="bg1"/>
                </a:solidFill>
              </a:rPr>
              <a:t>30 recordings with coded metadata</a:t>
            </a:r>
            <a:endParaRPr lang="en-US" sz="1700" dirty="0"/>
          </a:p>
        </p:txBody>
      </p:sp>
      <p:sp>
        <p:nvSpPr>
          <p:cNvPr id="24" name="Output 2 circle"/>
          <p:cNvSpPr/>
          <p:nvPr/>
        </p:nvSpPr>
        <p:spPr>
          <a:xfrm>
            <a:off x="6355080" y="3346704"/>
            <a:ext cx="329184" cy="329184"/>
          </a:xfrm>
          <a:prstGeom prst="ellipse">
            <a:avLst/>
          </a:prstGeom>
          <a:solidFill>
            <a:schemeClr val="accent1"/>
          </a:solidFill>
          <a:ln/>
        </p:spPr>
      </p:sp>
      <p:pic>
        <p:nvPicPr>
          <p:cNvPr id="25" name="Output 2 icon" descr="done">    </p:cNvPr>
          <p:cNvPicPr>
            <a:picLocks noChangeAspect="1"/>
          </p:cNvPicPr>
          <p:nvPr/>
        </p:nvPicPr>
        <p:blipFill>
          <a:blip r:embed="rId5"/>
          <a:stretch>
            <a:fillRect/>
          </a:stretch>
        </p:blipFill>
        <p:spPr>
          <a:xfrm>
            <a:off x="6428232" y="3419856"/>
            <a:ext cx="182880" cy="182880"/>
          </a:xfrm>
          <a:prstGeom prst="rect">
            <a:avLst/>
          </a:prstGeom>
        </p:spPr>
      </p:pic>
      <p:sp>
        <p:nvSpPr>
          <p:cNvPr id="26" name="Output 2 text"/>
          <p:cNvSpPr txBox="1"/>
          <p:nvPr/>
        </p:nvSpPr>
        <p:spPr>
          <a:xfrm>
            <a:off x="6858000" y="3310128"/>
            <a:ext cx="4572000" cy="402336"/>
          </a:xfrm>
          <a:prstGeom prst="rect">
            <a:avLst/>
          </a:prstGeom>
          <a:noFill/>
          <a:ln/>
        </p:spPr>
        <p:txBody>
          <a:bodyPr wrap="square" lIns="0" tIns="0" rIns="0" bIns="0" rtlCol="0" anchor="ctr"/>
          <a:lstStyle/>
          <a:p>
            <a:pPr indent="0" marL="0">
              <a:buNone/>
            </a:pPr>
            <a:r>
              <a:rPr lang="en-US" sz="1700" dirty="0">
                <a:solidFill>
                  <a:schemeClr val="bg1"/>
                </a:solidFill>
              </a:rPr>
              <a:t>Audio feature dataset (67 features)</a:t>
            </a:r>
            <a:endParaRPr lang="en-US" sz="1700" dirty="0"/>
          </a:p>
        </p:txBody>
      </p:sp>
      <p:sp>
        <p:nvSpPr>
          <p:cNvPr id="27" name="Output 3 circle"/>
          <p:cNvSpPr/>
          <p:nvPr/>
        </p:nvSpPr>
        <p:spPr>
          <a:xfrm>
            <a:off x="6355080" y="3822192"/>
            <a:ext cx="329184" cy="329184"/>
          </a:xfrm>
          <a:prstGeom prst="ellipse">
            <a:avLst/>
          </a:prstGeom>
          <a:solidFill>
            <a:schemeClr val="accent1"/>
          </a:solidFill>
          <a:ln/>
        </p:spPr>
      </p:sp>
      <p:pic>
        <p:nvPicPr>
          <p:cNvPr id="28" name="Output 3 icon" descr="done">    </p:cNvPr>
          <p:cNvPicPr>
            <a:picLocks noChangeAspect="1"/>
          </p:cNvPicPr>
          <p:nvPr/>
        </p:nvPicPr>
        <p:blipFill>
          <a:blip r:embed="rId6"/>
          <a:stretch>
            <a:fillRect/>
          </a:stretch>
        </p:blipFill>
        <p:spPr>
          <a:xfrm>
            <a:off x="6428232" y="3895344"/>
            <a:ext cx="182880" cy="182880"/>
          </a:xfrm>
          <a:prstGeom prst="rect">
            <a:avLst/>
          </a:prstGeom>
        </p:spPr>
      </p:pic>
      <p:sp>
        <p:nvSpPr>
          <p:cNvPr id="29" name="Output 3 text"/>
          <p:cNvSpPr txBox="1"/>
          <p:nvPr/>
        </p:nvSpPr>
        <p:spPr>
          <a:xfrm>
            <a:off x="6858000" y="3785616"/>
            <a:ext cx="4572000" cy="402336"/>
          </a:xfrm>
          <a:prstGeom prst="rect">
            <a:avLst/>
          </a:prstGeom>
          <a:noFill/>
          <a:ln/>
        </p:spPr>
        <p:txBody>
          <a:bodyPr wrap="square" lIns="0" tIns="0" rIns="0" bIns="0" rtlCol="0" anchor="ctr"/>
          <a:lstStyle/>
          <a:p>
            <a:pPr indent="0" marL="0">
              <a:buNone/>
            </a:pPr>
            <a:r>
              <a:rPr lang="en-US" sz="1700" dirty="0">
                <a:solidFill>
                  <a:schemeClr val="bg1"/>
                </a:solidFill>
              </a:rPr>
              <a:t>Spectrogram and waveform figures</a:t>
            </a:r>
            <a:endParaRPr lang="en-US" sz="1700" dirty="0"/>
          </a:p>
        </p:txBody>
      </p:sp>
      <p:sp>
        <p:nvSpPr>
          <p:cNvPr id="30" name="Output 4 circle"/>
          <p:cNvSpPr/>
          <p:nvPr/>
        </p:nvSpPr>
        <p:spPr>
          <a:xfrm>
            <a:off x="6355080" y="4297680"/>
            <a:ext cx="329184" cy="329184"/>
          </a:xfrm>
          <a:prstGeom prst="ellipse">
            <a:avLst/>
          </a:prstGeom>
          <a:solidFill>
            <a:schemeClr val="accent1"/>
          </a:solidFill>
          <a:ln/>
        </p:spPr>
      </p:sp>
      <p:pic>
        <p:nvPicPr>
          <p:cNvPr id="31" name="Output 4 icon" descr="done">    </p:cNvPr>
          <p:cNvPicPr>
            <a:picLocks noChangeAspect="1"/>
          </p:cNvPicPr>
          <p:nvPr/>
        </p:nvPicPr>
        <p:blipFill>
          <a:blip r:embed="rId7"/>
          <a:stretch>
            <a:fillRect/>
          </a:stretch>
        </p:blipFill>
        <p:spPr>
          <a:xfrm>
            <a:off x="6428232" y="4370832"/>
            <a:ext cx="182880" cy="182880"/>
          </a:xfrm>
          <a:prstGeom prst="rect">
            <a:avLst/>
          </a:prstGeom>
        </p:spPr>
      </p:pic>
      <p:sp>
        <p:nvSpPr>
          <p:cNvPr id="32" name="Output 4 text"/>
          <p:cNvSpPr txBox="1"/>
          <p:nvPr/>
        </p:nvSpPr>
        <p:spPr>
          <a:xfrm>
            <a:off x="6858000" y="4261104"/>
            <a:ext cx="4572000" cy="402336"/>
          </a:xfrm>
          <a:prstGeom prst="rect">
            <a:avLst/>
          </a:prstGeom>
          <a:noFill/>
          <a:ln/>
        </p:spPr>
        <p:txBody>
          <a:bodyPr wrap="square" lIns="0" tIns="0" rIns="0" bIns="0" rtlCol="0" anchor="ctr"/>
          <a:lstStyle/>
          <a:p>
            <a:pPr indent="0" marL="0">
              <a:buNone/>
            </a:pPr>
            <a:r>
              <a:rPr lang="en-US" sz="1700" dirty="0">
                <a:solidFill>
                  <a:schemeClr val="bg1"/>
                </a:solidFill>
              </a:rPr>
              <a:t>Six trained models, LOPO-evaluated</a:t>
            </a:r>
            <a:endParaRPr lang="en-US" sz="1700" dirty="0"/>
          </a:p>
        </p:txBody>
      </p:sp>
      <p:sp>
        <p:nvSpPr>
          <p:cNvPr id="33" name="Output 5 circle"/>
          <p:cNvSpPr/>
          <p:nvPr/>
        </p:nvSpPr>
        <p:spPr>
          <a:xfrm>
            <a:off x="6355080" y="4773168"/>
            <a:ext cx="329184" cy="329184"/>
          </a:xfrm>
          <a:prstGeom prst="ellipse">
            <a:avLst/>
          </a:prstGeom>
          <a:solidFill>
            <a:schemeClr val="accent1"/>
          </a:solidFill>
          <a:ln/>
        </p:spPr>
      </p:sp>
      <p:pic>
        <p:nvPicPr>
          <p:cNvPr id="34" name="Output 5 icon" descr="done">    </p:cNvPr>
          <p:cNvPicPr>
            <a:picLocks noChangeAspect="1"/>
          </p:cNvPicPr>
          <p:nvPr/>
        </p:nvPicPr>
        <p:blipFill>
          <a:blip r:embed="rId8"/>
          <a:stretch>
            <a:fillRect/>
          </a:stretch>
        </p:blipFill>
        <p:spPr>
          <a:xfrm>
            <a:off x="6428232" y="4846320"/>
            <a:ext cx="182880" cy="182880"/>
          </a:xfrm>
          <a:prstGeom prst="rect">
            <a:avLst/>
          </a:prstGeom>
        </p:spPr>
      </p:pic>
      <p:sp>
        <p:nvSpPr>
          <p:cNvPr id="35" name="Output 5 text"/>
          <p:cNvSpPr txBox="1"/>
          <p:nvPr/>
        </p:nvSpPr>
        <p:spPr>
          <a:xfrm>
            <a:off x="6858000" y="4736592"/>
            <a:ext cx="4572000" cy="402336"/>
          </a:xfrm>
          <a:prstGeom prst="rect">
            <a:avLst/>
          </a:prstGeom>
          <a:noFill/>
          <a:ln/>
        </p:spPr>
        <p:txBody>
          <a:bodyPr wrap="square" lIns="0" tIns="0" rIns="0" bIns="0" rtlCol="0" anchor="ctr"/>
          <a:lstStyle/>
          <a:p>
            <a:pPr indent="0" marL="0">
              <a:buNone/>
            </a:pPr>
            <a:r>
              <a:rPr lang="en-US" sz="1700" dirty="0">
                <a:solidFill>
                  <a:schemeClr val="bg1"/>
                </a:solidFill>
              </a:rPr>
              <a:t>Prototype: WAV in, affect out</a:t>
            </a:r>
            <a:endParaRPr lang="en-US" sz="1700" dirty="0"/>
          </a:p>
        </p:txBody>
      </p:sp>
      <p:sp>
        <p:nvSpPr>
          <p:cNvPr id="36" name="Output 6 circle"/>
          <p:cNvSpPr/>
          <p:nvPr/>
        </p:nvSpPr>
        <p:spPr>
          <a:xfrm>
            <a:off x="6355080" y="5248656"/>
            <a:ext cx="329184" cy="329184"/>
          </a:xfrm>
          <a:prstGeom prst="ellipse">
            <a:avLst/>
          </a:prstGeom>
          <a:solidFill>
            <a:schemeClr val="accent1"/>
          </a:solidFill>
          <a:ln/>
        </p:spPr>
      </p:sp>
      <p:pic>
        <p:nvPicPr>
          <p:cNvPr id="37" name="Output 6 icon" descr="done">    </p:cNvPr>
          <p:cNvPicPr>
            <a:picLocks noChangeAspect="1"/>
          </p:cNvPicPr>
          <p:nvPr/>
        </p:nvPicPr>
        <p:blipFill>
          <a:blip r:embed="rId9"/>
          <a:stretch>
            <a:fillRect/>
          </a:stretch>
        </p:blipFill>
        <p:spPr>
          <a:xfrm>
            <a:off x="6428232" y="5321808"/>
            <a:ext cx="182880" cy="182880"/>
          </a:xfrm>
          <a:prstGeom prst="rect">
            <a:avLst/>
          </a:prstGeom>
        </p:spPr>
      </p:pic>
      <p:sp>
        <p:nvSpPr>
          <p:cNvPr id="38" name="Output 6 text"/>
          <p:cNvSpPr txBox="1"/>
          <p:nvPr/>
        </p:nvSpPr>
        <p:spPr>
          <a:xfrm>
            <a:off x="6858000" y="5212080"/>
            <a:ext cx="4572000" cy="402336"/>
          </a:xfrm>
          <a:prstGeom prst="rect">
            <a:avLst/>
          </a:prstGeom>
          <a:noFill/>
          <a:ln/>
        </p:spPr>
        <p:txBody>
          <a:bodyPr wrap="square" lIns="0" tIns="0" rIns="0" bIns="0" rtlCol="0" anchor="ctr"/>
          <a:lstStyle/>
          <a:p>
            <a:pPr indent="0" marL="0">
              <a:buNone/>
            </a:pPr>
            <a:r>
              <a:rPr lang="en-US" sz="1700" dirty="0">
                <a:solidFill>
                  <a:schemeClr val="bg1"/>
                </a:solidFill>
              </a:rPr>
              <a:t>Group research report</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1"/>
                </a:solidFill>
              </a:rPr>
              <a:t>2. Data Collection</a:t>
            </a:r>
            <a:endParaRPr lang="en-US" sz="3400" dirty="0"/>
          </a:p>
        </p:txBody>
      </p:sp>
      <p:sp>
        <p:nvSpPr>
          <p:cNvPr id="3" name="Procedure label"/>
          <p:cNvSpPr txBox="1"/>
          <p:nvPr/>
        </p:nvSpPr>
        <p:spPr>
          <a:xfrm>
            <a:off x="548640" y="1325880"/>
            <a:ext cx="3840480" cy="347472"/>
          </a:xfrm>
          <a:prstGeom prst="rect">
            <a:avLst/>
          </a:prstGeom>
          <a:noFill/>
          <a:ln/>
        </p:spPr>
        <p:txBody>
          <a:bodyPr wrap="square" lIns="0" tIns="0" rIns="0" bIns="0" rtlCol="0" anchor="ctr"/>
          <a:lstStyle/>
          <a:p>
            <a:pPr indent="0" marL="0">
              <a:buNone/>
            </a:pPr>
            <a:r>
              <a:rPr lang="en-US" sz="1600" b="1" dirty="0">
                <a:solidFill>
                  <a:schemeClr val="accent3"/>
                </a:solidFill>
              </a:rPr>
              <a:t>Procedure</a:t>
            </a:r>
            <a:endParaRPr lang="en-US" sz="1600" dirty="0"/>
          </a:p>
        </p:txBody>
      </p:sp>
      <p:sp>
        <p:nvSpPr>
          <p:cNvPr id="4" name="Step 1 circle"/>
          <p:cNvSpPr/>
          <p:nvPr/>
        </p:nvSpPr>
        <p:spPr>
          <a:xfrm>
            <a:off x="548640" y="1783080"/>
            <a:ext cx="438912" cy="438912"/>
          </a:xfrm>
          <a:prstGeom prst="ellipse">
            <a:avLst/>
          </a:prstGeom>
          <a:solidFill>
            <a:schemeClr val="accent1"/>
          </a:solidFill>
          <a:ln/>
        </p:spPr>
      </p:sp>
      <p:sp>
        <p:nvSpPr>
          <p:cNvPr id="5" name="Step 1 number"/>
          <p:cNvSpPr txBox="1"/>
          <p:nvPr/>
        </p:nvSpPr>
        <p:spPr>
          <a:xfrm>
            <a:off x="548640" y="178308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tep 1 text"/>
          <p:cNvSpPr txBox="1"/>
          <p:nvPr/>
        </p:nvSpPr>
        <p:spPr>
          <a:xfrm>
            <a:off x="1143000" y="1728216"/>
            <a:ext cx="3108960" cy="548640"/>
          </a:xfrm>
          <a:prstGeom prst="rect">
            <a:avLst/>
          </a:prstGeom>
          <a:noFill/>
          <a:ln/>
        </p:spPr>
        <p:txBody>
          <a:bodyPr wrap="square" lIns="0" tIns="0" rIns="0" bIns="0" rtlCol="0" anchor="ctr"/>
          <a:lstStyle/>
          <a:p>
            <a:pPr indent="0" marL="0">
              <a:buNone/>
            </a:pPr>
            <a:r>
              <a:rPr lang="en-US" sz="1500" dirty="0">
                <a:solidFill>
                  <a:schemeClr val="tx1"/>
                </a:solidFill>
              </a:rPr>
              <a:t>Consent obtained before any recording</a:t>
            </a:r>
            <a:endParaRPr lang="en-US" sz="1500" dirty="0"/>
          </a:p>
        </p:txBody>
      </p:sp>
      <p:sp>
        <p:nvSpPr>
          <p:cNvPr id="7" name="Step 2 circle"/>
          <p:cNvSpPr/>
          <p:nvPr/>
        </p:nvSpPr>
        <p:spPr>
          <a:xfrm>
            <a:off x="548640" y="2404872"/>
            <a:ext cx="438912" cy="438912"/>
          </a:xfrm>
          <a:prstGeom prst="ellipse">
            <a:avLst/>
          </a:prstGeom>
          <a:solidFill>
            <a:schemeClr val="accent1"/>
          </a:solidFill>
          <a:ln/>
        </p:spPr>
      </p:sp>
      <p:sp>
        <p:nvSpPr>
          <p:cNvPr id="8" name="Step 2 number"/>
          <p:cNvSpPr txBox="1"/>
          <p:nvPr/>
        </p:nvSpPr>
        <p:spPr>
          <a:xfrm>
            <a:off x="548640" y="240487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Step 2 text"/>
          <p:cNvSpPr txBox="1"/>
          <p:nvPr/>
        </p:nvSpPr>
        <p:spPr>
          <a:xfrm>
            <a:off x="1143000" y="2350008"/>
            <a:ext cx="3108960" cy="548640"/>
          </a:xfrm>
          <a:prstGeom prst="rect">
            <a:avLst/>
          </a:prstGeom>
          <a:noFill/>
          <a:ln/>
        </p:spPr>
        <p:txBody>
          <a:bodyPr wrap="square" lIns="0" tIns="0" rIns="0" bIns="0" rtlCol="0" anchor="ctr"/>
          <a:lstStyle/>
          <a:p>
            <a:pPr indent="0" marL="0">
              <a:buNone/>
            </a:pPr>
            <a:r>
              <a:rPr lang="en-US" sz="1500" dirty="0">
                <a:solidFill>
                  <a:schemeClr val="tx1"/>
                </a:solidFill>
              </a:rPr>
              <a:t>Right after class: say one Bisaya word</a:t>
            </a:r>
            <a:endParaRPr lang="en-US" sz="1500" dirty="0"/>
          </a:p>
        </p:txBody>
      </p:sp>
      <p:sp>
        <p:nvSpPr>
          <p:cNvPr id="10" name="Step 3 circle"/>
          <p:cNvSpPr/>
          <p:nvPr/>
        </p:nvSpPr>
        <p:spPr>
          <a:xfrm>
            <a:off x="548640" y="3026664"/>
            <a:ext cx="438912" cy="438912"/>
          </a:xfrm>
          <a:prstGeom prst="ellipse">
            <a:avLst/>
          </a:prstGeom>
          <a:solidFill>
            <a:schemeClr val="accent1"/>
          </a:solidFill>
          <a:ln/>
        </p:spPr>
      </p:sp>
      <p:sp>
        <p:nvSpPr>
          <p:cNvPr id="11" name="Step 3 number"/>
          <p:cNvSpPr txBox="1"/>
          <p:nvPr/>
        </p:nvSpPr>
        <p:spPr>
          <a:xfrm>
            <a:off x="548640" y="3026664"/>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Step 3 text"/>
          <p:cNvSpPr txBox="1"/>
          <p:nvPr/>
        </p:nvSpPr>
        <p:spPr>
          <a:xfrm>
            <a:off x="1143000" y="2971800"/>
            <a:ext cx="3108960" cy="548640"/>
          </a:xfrm>
          <a:prstGeom prst="rect">
            <a:avLst/>
          </a:prstGeom>
          <a:noFill/>
          <a:ln/>
        </p:spPr>
        <p:txBody>
          <a:bodyPr wrap="square" lIns="0" tIns="0" rIns="0" bIns="0" rtlCol="0" anchor="ctr"/>
          <a:lstStyle/>
          <a:p>
            <a:pPr indent="0" marL="0">
              <a:buNone/>
            </a:pPr>
            <a:r>
              <a:rPr lang="en-US" sz="1500" dirty="0">
                <a:solidFill>
                  <a:schemeClr val="tx1"/>
                </a:solidFill>
              </a:rPr>
              <a:t>Rate own valence and arousal (1–5)</a:t>
            </a:r>
            <a:endParaRPr lang="en-US" sz="1500" dirty="0"/>
          </a:p>
        </p:txBody>
      </p:sp>
      <p:sp>
        <p:nvSpPr>
          <p:cNvPr id="13" name="Step 4 circle"/>
          <p:cNvSpPr/>
          <p:nvPr/>
        </p:nvSpPr>
        <p:spPr>
          <a:xfrm>
            <a:off x="548640" y="3648456"/>
            <a:ext cx="438912" cy="438912"/>
          </a:xfrm>
          <a:prstGeom prst="ellipse">
            <a:avLst/>
          </a:prstGeom>
          <a:solidFill>
            <a:schemeClr val="accent1"/>
          </a:solidFill>
          <a:ln/>
        </p:spPr>
      </p:sp>
      <p:sp>
        <p:nvSpPr>
          <p:cNvPr id="14" name="Step 4 number"/>
          <p:cNvSpPr txBox="1"/>
          <p:nvPr/>
        </p:nvSpPr>
        <p:spPr>
          <a:xfrm>
            <a:off x="548640" y="3648456"/>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Step 4 text"/>
          <p:cNvSpPr txBox="1"/>
          <p:nvPr/>
        </p:nvSpPr>
        <p:spPr>
          <a:xfrm>
            <a:off x="1143000" y="3593592"/>
            <a:ext cx="3108960" cy="548640"/>
          </a:xfrm>
          <a:prstGeom prst="rect">
            <a:avLst/>
          </a:prstGeom>
          <a:noFill/>
          <a:ln/>
        </p:spPr>
        <p:txBody>
          <a:bodyPr wrap="square" lIns="0" tIns="0" rIns="0" bIns="0" rtlCol="0" anchor="ctr"/>
          <a:lstStyle/>
          <a:p>
            <a:pPr indent="0" marL="0">
              <a:buNone/>
            </a:pPr>
            <a:r>
              <a:rPr lang="en-US" sz="1500" dirty="0">
                <a:solidFill>
                  <a:schemeClr val="tx1"/>
                </a:solidFill>
              </a:rPr>
              <a:t>Log activity, session, feeling; anonymous code</a:t>
            </a:r>
            <a:endParaRPr lang="en-US" sz="1500" dirty="0"/>
          </a:p>
        </p:txBody>
      </p:sp>
      <p:sp>
        <p:nvSpPr>
          <p:cNvPr id="16" name="Consent card"/>
          <p:cNvSpPr/>
          <p:nvPr/>
        </p:nvSpPr>
        <p:spPr>
          <a:xfrm>
            <a:off x="548640" y="4343400"/>
            <a:ext cx="3794760" cy="1783080"/>
          </a:xfrm>
          <a:prstGeom prst="roundRect">
            <a:avLst>
              <a:gd name="adj" fmla="val 6154"/>
            </a:avLst>
          </a:prstGeom>
          <a:solidFill>
            <a:schemeClr val="bg2"/>
          </a:solidFill>
          <a:ln/>
        </p:spPr>
      </p:sp>
      <p:sp>
        <p:nvSpPr>
          <p:cNvPr id="17" name="Consent circle"/>
          <p:cNvSpPr/>
          <p:nvPr/>
        </p:nvSpPr>
        <p:spPr>
          <a:xfrm>
            <a:off x="777240" y="4526280"/>
            <a:ext cx="457200" cy="457200"/>
          </a:xfrm>
          <a:prstGeom prst="ellipse">
            <a:avLst/>
          </a:prstGeom>
          <a:solidFill>
            <a:schemeClr val="accent3"/>
          </a:solidFill>
          <a:ln/>
        </p:spPr>
      </p:sp>
      <p:pic>
        <p:nvPicPr>
          <p:cNvPr id="18" name="Consent icon" descr="Consent">    </p:cNvPr>
          <p:cNvPicPr>
            <a:picLocks noChangeAspect="1"/>
          </p:cNvPicPr>
          <p:nvPr/>
        </p:nvPicPr>
        <p:blipFill>
          <a:blip r:embed="rId1"/>
          <a:stretch>
            <a:fillRect/>
          </a:stretch>
        </p:blipFill>
        <p:spPr>
          <a:xfrm>
            <a:off x="891540" y="4640580"/>
            <a:ext cx="228600" cy="228600"/>
          </a:xfrm>
          <a:prstGeom prst="rect">
            <a:avLst/>
          </a:prstGeom>
        </p:spPr>
      </p:pic>
      <p:sp>
        <p:nvSpPr>
          <p:cNvPr id="19" name="Consent heading"/>
          <p:cNvSpPr txBox="1"/>
          <p:nvPr/>
        </p:nvSpPr>
        <p:spPr>
          <a:xfrm>
            <a:off x="1371600" y="4526280"/>
            <a:ext cx="2743200" cy="457200"/>
          </a:xfrm>
          <a:prstGeom prst="rect">
            <a:avLst/>
          </a:prstGeom>
          <a:noFill/>
          <a:ln/>
        </p:spPr>
        <p:txBody>
          <a:bodyPr wrap="square" lIns="0" tIns="0" rIns="0" bIns="0" rtlCol="0" anchor="ctr"/>
          <a:lstStyle/>
          <a:p>
            <a:pPr indent="0" marL="0">
              <a:buNone/>
            </a:pPr>
            <a:r>
              <a:rPr lang="en-US" sz="1600" b="1" dirty="0">
                <a:solidFill>
                  <a:schemeClr val="accent3"/>
                </a:solidFill>
              </a:rPr>
              <a:t>Consent</a:t>
            </a:r>
            <a:endParaRPr lang="en-US" sz="1600" dirty="0"/>
          </a:p>
        </p:txBody>
      </p:sp>
      <p:sp>
        <p:nvSpPr>
          <p:cNvPr id="20" name="Consent bullets"/>
          <p:cNvSpPr txBox="1"/>
          <p:nvPr/>
        </p:nvSpPr>
        <p:spPr>
          <a:xfrm>
            <a:off x="777240" y="5074920"/>
            <a:ext cx="3474720" cy="1005840"/>
          </a:xfrm>
          <a:prstGeom prst="rect">
            <a:avLst/>
          </a:prstGeom>
          <a:noFill/>
          <a:ln/>
        </p:spPr>
        <p:txBody>
          <a:bodyPr wrap="square" lIns="0" tIns="0" rIns="0" bIns="0" rtlCol="0" anchor="t"/>
          <a:lstStyle/>
          <a:p>
            <a:pPr marL="228600" indent="-228600">
              <a:spcAft>
                <a:spcPts val="300"/>
              </a:spcAft>
              <a:buSzPct val="100000"/>
              <a:buChar char="•"/>
            </a:pPr>
            <a:r>
              <a:rPr lang="en-US" sz="1400" dirty="0">
                <a:solidFill>
                  <a:schemeClr val="tx1"/>
                </a:solidFill>
              </a:rPr>
              <a:t>Voluntary; no academic penalty</a:t>
            </a:r>
            <a:endParaRPr lang="en-US" sz="1400" dirty="0"/>
          </a:p>
          <a:p>
            <a:pPr marL="228600" indent="-228600">
              <a:spcAft>
                <a:spcPts val="300"/>
              </a:spcAft>
              <a:buSzPct val="100000"/>
              <a:buChar char="•"/>
            </a:pPr>
            <a:r>
              <a:rPr lang="en-US" sz="1400" dirty="0">
                <a:solidFill>
                  <a:schemeClr val="tx1"/>
                </a:solidFill>
              </a:rPr>
              <a:t>Forms stored apart from data</a:t>
            </a:r>
            <a:endParaRPr lang="en-US" sz="1400" dirty="0"/>
          </a:p>
          <a:p>
            <a:pPr marL="228600" indent="-228600">
              <a:spcAft>
                <a:spcPts val="300"/>
              </a:spcAft>
              <a:buSzPct val="100000"/>
              <a:buChar char="•"/>
            </a:pPr>
            <a:r>
              <a:rPr lang="en-US" sz="1400" dirty="0">
                <a:solidFill>
                  <a:schemeClr val="tx1"/>
                </a:solidFill>
              </a:rPr>
              <a:t>Codes only (Y1-001), no names</a:t>
            </a:r>
            <a:endParaRPr lang="en-US" sz="1400" dirty="0"/>
          </a:p>
        </p:txBody>
      </p:sp>
      <p:graphicFrame>
        <p:nvGraphicFramePr>
          <p:cNvPr id="21" name="Activity chart" descr="Recordings per class activity"/>
          <p:cNvGraphicFramePr/>
          <p:nvPr/>
        </p:nvGraphicFramePr>
        <p:xfrm>
          <a:off x="4572000" y="1325880"/>
          <a:ext cx="3520440" cy="2606040"/>
        </p:xfrm>
        <a:graphic xmlns:a="http://schemas.openxmlformats.org/drawingml/2006/main">
          <a:graphicData uri="http://schemas.openxmlformats.org/drawingml/2006/chart">
            <c:chart xmlns:c="http://schemas.openxmlformats.org/drawingml/2006/chart" r:id="rId2"/>
          </a:graphicData>
        </a:graphic>
      </p:graphicFrame>
      <p:graphicFrame>
        <p:nvGraphicFramePr>
          <p:cNvPr id="22" name="Word chart" descr="Recordings per spoken word"/>
          <p:cNvGraphicFramePr/>
          <p:nvPr/>
        </p:nvGraphicFramePr>
        <p:xfrm>
          <a:off x="8138160" y="1325880"/>
          <a:ext cx="3502152" cy="2606040"/>
        </p:xfrm>
        <a:graphic xmlns:a="http://schemas.openxmlformats.org/drawingml/2006/main">
          <a:graphicData uri="http://schemas.openxmlformats.org/drawingml/2006/chart">
            <c:chart xmlns:c="http://schemas.openxmlformats.org/drawingml/2006/chart" r:id="rId3"/>
          </a:graphicData>
        </a:graphic>
      </p:graphicFrame>
      <p:sp>
        <p:nvSpPr>
          <p:cNvPr id="23" name="Distribution note"/>
          <p:cNvSpPr txBox="1"/>
          <p:nvPr/>
        </p:nvSpPr>
        <p:spPr>
          <a:xfrm>
            <a:off x="4572000" y="3977640"/>
            <a:ext cx="7068312" cy="320040"/>
          </a:xfrm>
          <a:prstGeom prst="rect">
            <a:avLst/>
          </a:prstGeom>
          <a:noFill/>
          <a:ln/>
        </p:spPr>
        <p:txBody>
          <a:bodyPr wrap="square" lIns="0" tIns="0" rIns="0" bIns="0" rtlCol="0" anchor="ctr"/>
          <a:lstStyle/>
          <a:p>
            <a:pPr indent="0" marL="0">
              <a:buNone/>
            </a:pPr>
            <a:r>
              <a:rPr lang="en-US" sz="1400" b="1" dirty="0">
                <a:solidFill>
                  <a:schemeClr val="tx1"/>
                </a:solidFill>
              </a:rPr>
              <a:t>Session: </a:t>
            </a:r>
            <a:pPr indent="0" marL="0">
              <a:buNone/>
            </a:pPr>
            <a:r>
              <a:rPr lang="en-US" sz="1400" dirty="0">
                <a:solidFill>
                  <a:schemeClr val="tx1"/>
                </a:solidFill>
              </a:rPr>
              <a:t>Morning 13 · Afternoon–Evening 17     </a:t>
            </a:r>
            <a:pPr indent="0" marL="0">
              <a:buNone/>
            </a:pPr>
            <a:r>
              <a:rPr lang="en-US" sz="1400" b="1" dirty="0">
                <a:solidFill>
                  <a:schemeClr val="tx1"/>
                </a:solidFill>
              </a:rPr>
              <a:t>Year: </a:t>
            </a:r>
            <a:pPr indent="0" marL="0">
              <a:buNone/>
            </a:pPr>
            <a:r>
              <a:rPr lang="en-US" sz="1400" dirty="0">
                <a:solidFill>
                  <a:schemeClr val="tx1"/>
                </a:solidFill>
              </a:rPr>
              <a:t>all 1st Year     </a:t>
            </a:r>
            <a:pPr indent="0" marL="0">
              <a:buNone/>
            </a:pPr>
            <a:r>
              <a:rPr lang="en-US" sz="1400" i="1" dirty="0">
                <a:solidFill>
                  <a:schemeClr val="tx2"/>
                </a:solidFill>
              </a:rPr>
              <a:t>*off-protocol word</a:t>
            </a:r>
            <a:endParaRPr lang="en-US" sz="1400" dirty="0"/>
          </a:p>
        </p:txBody>
      </p:sp>
      <p:sp>
        <p:nvSpPr>
          <p:cNvPr id="24" name="Variables card"/>
          <p:cNvSpPr/>
          <p:nvPr/>
        </p:nvSpPr>
        <p:spPr>
          <a:xfrm>
            <a:off x="4572000" y="4434840"/>
            <a:ext cx="7068312" cy="1691640"/>
          </a:xfrm>
          <a:prstGeom prst="roundRect">
            <a:avLst>
              <a:gd name="adj" fmla="val 6486"/>
            </a:avLst>
          </a:prstGeom>
          <a:solidFill>
            <a:schemeClr val="bg2"/>
          </a:solidFill>
          <a:ln/>
        </p:spPr>
      </p:sp>
      <p:sp>
        <p:nvSpPr>
          <p:cNvPr id="25" name="Recorded variables label"/>
          <p:cNvSpPr txBox="1"/>
          <p:nvPr/>
        </p:nvSpPr>
        <p:spPr>
          <a:xfrm>
            <a:off x="4846320" y="4572000"/>
            <a:ext cx="3657600" cy="347472"/>
          </a:xfrm>
          <a:prstGeom prst="rect">
            <a:avLst/>
          </a:prstGeom>
          <a:noFill/>
          <a:ln/>
        </p:spPr>
        <p:txBody>
          <a:bodyPr wrap="square" lIns="0" tIns="0" rIns="0" bIns="0" rtlCol="0" anchor="ctr"/>
          <a:lstStyle/>
          <a:p>
            <a:pPr indent="0" marL="0">
              <a:buNone/>
            </a:pPr>
            <a:r>
              <a:rPr lang="en-US" sz="1600" b="1" dirty="0">
                <a:solidFill>
                  <a:schemeClr val="accent3"/>
                </a:solidFill>
              </a:rPr>
              <a:t>Recorded variables</a:t>
            </a:r>
            <a:endParaRPr lang="en-US" sz="1600" dirty="0"/>
          </a:p>
        </p:txBody>
      </p:sp>
      <p:sp>
        <p:nvSpPr>
          <p:cNvPr id="26" name="Variable Participant Code chip"/>
          <p:cNvSpPr/>
          <p:nvPr/>
        </p:nvSpPr>
        <p:spPr>
          <a:xfrm>
            <a:off x="4846320" y="5010912"/>
            <a:ext cx="1572768" cy="384048"/>
          </a:xfrm>
          <a:prstGeom prst="roundRect">
            <a:avLst>
              <a:gd name="adj" fmla="val 47619"/>
            </a:avLst>
          </a:prstGeom>
          <a:solidFill>
            <a:schemeClr val="accent3"/>
          </a:solidFill>
          <a:ln/>
        </p:spPr>
      </p:sp>
      <p:sp>
        <p:nvSpPr>
          <p:cNvPr id="27" name="Variable Participant Code chip text"/>
          <p:cNvSpPr txBox="1"/>
          <p:nvPr/>
        </p:nvSpPr>
        <p:spPr>
          <a:xfrm>
            <a:off x="4846320" y="5010912"/>
            <a:ext cx="1572768" cy="384048"/>
          </a:xfrm>
          <a:prstGeom prst="rect">
            <a:avLst/>
          </a:prstGeom>
          <a:noFill/>
          <a:ln/>
        </p:spPr>
        <p:txBody>
          <a:bodyPr wrap="square" lIns="0" tIns="0" rIns="0" bIns="0" rtlCol="0" anchor="ctr"/>
          <a:lstStyle/>
          <a:p>
            <a:pPr algn="ctr" indent="0" marL="0">
              <a:buNone/>
            </a:pPr>
            <a:r>
              <a:rPr lang="en-US" sz="1400" b="1" dirty="0">
                <a:solidFill>
                  <a:schemeClr val="bg1"/>
                </a:solidFill>
              </a:rPr>
              <a:t>Participant Code</a:t>
            </a:r>
            <a:endParaRPr lang="en-US" sz="1400" dirty="0"/>
          </a:p>
        </p:txBody>
      </p:sp>
      <p:sp>
        <p:nvSpPr>
          <p:cNvPr id="28" name="Variable Year Level chip"/>
          <p:cNvSpPr/>
          <p:nvPr/>
        </p:nvSpPr>
        <p:spPr>
          <a:xfrm>
            <a:off x="6528816" y="5010912"/>
            <a:ext cx="1572768" cy="384048"/>
          </a:xfrm>
          <a:prstGeom prst="roundRect">
            <a:avLst>
              <a:gd name="adj" fmla="val 47619"/>
            </a:avLst>
          </a:prstGeom>
          <a:solidFill>
            <a:schemeClr val="accent3"/>
          </a:solidFill>
          <a:ln/>
        </p:spPr>
      </p:sp>
      <p:sp>
        <p:nvSpPr>
          <p:cNvPr id="29" name="Variable Year Level chip text"/>
          <p:cNvSpPr txBox="1"/>
          <p:nvPr/>
        </p:nvSpPr>
        <p:spPr>
          <a:xfrm>
            <a:off x="6528816" y="5010912"/>
            <a:ext cx="1572768" cy="384048"/>
          </a:xfrm>
          <a:prstGeom prst="rect">
            <a:avLst/>
          </a:prstGeom>
          <a:noFill/>
          <a:ln/>
        </p:spPr>
        <p:txBody>
          <a:bodyPr wrap="square" lIns="0" tIns="0" rIns="0" bIns="0" rtlCol="0" anchor="ctr"/>
          <a:lstStyle/>
          <a:p>
            <a:pPr algn="ctr" indent="0" marL="0">
              <a:buNone/>
            </a:pPr>
            <a:r>
              <a:rPr lang="en-US" sz="1400" b="1" dirty="0">
                <a:solidFill>
                  <a:schemeClr val="bg1"/>
                </a:solidFill>
              </a:rPr>
              <a:t>Year Level</a:t>
            </a:r>
            <a:endParaRPr lang="en-US" sz="1400" dirty="0"/>
          </a:p>
        </p:txBody>
      </p:sp>
      <p:sp>
        <p:nvSpPr>
          <p:cNvPr id="30" name="Variable Class Activity chip"/>
          <p:cNvSpPr/>
          <p:nvPr/>
        </p:nvSpPr>
        <p:spPr>
          <a:xfrm>
            <a:off x="8211312" y="5010912"/>
            <a:ext cx="1572768" cy="384048"/>
          </a:xfrm>
          <a:prstGeom prst="roundRect">
            <a:avLst>
              <a:gd name="adj" fmla="val 47619"/>
            </a:avLst>
          </a:prstGeom>
          <a:solidFill>
            <a:schemeClr val="accent3"/>
          </a:solidFill>
          <a:ln/>
        </p:spPr>
      </p:sp>
      <p:sp>
        <p:nvSpPr>
          <p:cNvPr id="31" name="Variable Class Activity chip text"/>
          <p:cNvSpPr txBox="1"/>
          <p:nvPr/>
        </p:nvSpPr>
        <p:spPr>
          <a:xfrm>
            <a:off x="8211312" y="5010912"/>
            <a:ext cx="1572768" cy="384048"/>
          </a:xfrm>
          <a:prstGeom prst="rect">
            <a:avLst/>
          </a:prstGeom>
          <a:noFill/>
          <a:ln/>
        </p:spPr>
        <p:txBody>
          <a:bodyPr wrap="square" lIns="0" tIns="0" rIns="0" bIns="0" rtlCol="0" anchor="ctr"/>
          <a:lstStyle/>
          <a:p>
            <a:pPr algn="ctr" indent="0" marL="0">
              <a:buNone/>
            </a:pPr>
            <a:r>
              <a:rPr lang="en-US" sz="1400" b="1" dirty="0">
                <a:solidFill>
                  <a:schemeClr val="bg1"/>
                </a:solidFill>
              </a:rPr>
              <a:t>Class Activity</a:t>
            </a:r>
            <a:endParaRPr lang="en-US" sz="1400" dirty="0"/>
          </a:p>
        </p:txBody>
      </p:sp>
      <p:sp>
        <p:nvSpPr>
          <p:cNvPr id="32" name="Variable Session chip"/>
          <p:cNvSpPr/>
          <p:nvPr/>
        </p:nvSpPr>
        <p:spPr>
          <a:xfrm>
            <a:off x="9893808" y="5010912"/>
            <a:ext cx="1572768" cy="384048"/>
          </a:xfrm>
          <a:prstGeom prst="roundRect">
            <a:avLst>
              <a:gd name="adj" fmla="val 47619"/>
            </a:avLst>
          </a:prstGeom>
          <a:solidFill>
            <a:schemeClr val="accent3"/>
          </a:solidFill>
          <a:ln/>
        </p:spPr>
      </p:sp>
      <p:sp>
        <p:nvSpPr>
          <p:cNvPr id="33" name="Variable Session chip text"/>
          <p:cNvSpPr txBox="1"/>
          <p:nvPr/>
        </p:nvSpPr>
        <p:spPr>
          <a:xfrm>
            <a:off x="9893808" y="5010912"/>
            <a:ext cx="1572768" cy="384048"/>
          </a:xfrm>
          <a:prstGeom prst="rect">
            <a:avLst/>
          </a:prstGeom>
          <a:noFill/>
          <a:ln/>
        </p:spPr>
        <p:txBody>
          <a:bodyPr wrap="square" lIns="0" tIns="0" rIns="0" bIns="0" rtlCol="0" anchor="ctr"/>
          <a:lstStyle/>
          <a:p>
            <a:pPr algn="ctr" indent="0" marL="0">
              <a:buNone/>
            </a:pPr>
            <a:r>
              <a:rPr lang="en-US" sz="1400" b="1" dirty="0">
                <a:solidFill>
                  <a:schemeClr val="bg1"/>
                </a:solidFill>
              </a:rPr>
              <a:t>Session</a:t>
            </a:r>
            <a:endParaRPr lang="en-US" sz="1400" dirty="0"/>
          </a:p>
        </p:txBody>
      </p:sp>
      <p:sp>
        <p:nvSpPr>
          <p:cNvPr id="34" name="Variable Spoken Word chip"/>
          <p:cNvSpPr/>
          <p:nvPr/>
        </p:nvSpPr>
        <p:spPr>
          <a:xfrm>
            <a:off x="4846320" y="5513832"/>
            <a:ext cx="1572768" cy="384048"/>
          </a:xfrm>
          <a:prstGeom prst="roundRect">
            <a:avLst>
              <a:gd name="adj" fmla="val 47619"/>
            </a:avLst>
          </a:prstGeom>
          <a:solidFill>
            <a:schemeClr val="accent3"/>
          </a:solidFill>
          <a:ln/>
        </p:spPr>
      </p:sp>
      <p:sp>
        <p:nvSpPr>
          <p:cNvPr id="35" name="Variable Spoken Word chip text"/>
          <p:cNvSpPr txBox="1"/>
          <p:nvPr/>
        </p:nvSpPr>
        <p:spPr>
          <a:xfrm>
            <a:off x="4846320" y="5513832"/>
            <a:ext cx="1572768" cy="384048"/>
          </a:xfrm>
          <a:prstGeom prst="rect">
            <a:avLst/>
          </a:prstGeom>
          <a:noFill/>
          <a:ln/>
        </p:spPr>
        <p:txBody>
          <a:bodyPr wrap="square" lIns="0" tIns="0" rIns="0" bIns="0" rtlCol="0" anchor="ctr"/>
          <a:lstStyle/>
          <a:p>
            <a:pPr algn="ctr" indent="0" marL="0">
              <a:buNone/>
            </a:pPr>
            <a:r>
              <a:rPr lang="en-US" sz="1400" b="1" dirty="0">
                <a:solidFill>
                  <a:schemeClr val="bg1"/>
                </a:solidFill>
              </a:rPr>
              <a:t>Spoken Word</a:t>
            </a:r>
            <a:endParaRPr lang="en-US" sz="1400" dirty="0"/>
          </a:p>
        </p:txBody>
      </p:sp>
      <p:sp>
        <p:nvSpPr>
          <p:cNvPr id="36" name="Variable Feeling (free text) chip"/>
          <p:cNvSpPr/>
          <p:nvPr/>
        </p:nvSpPr>
        <p:spPr>
          <a:xfrm>
            <a:off x="6528816" y="5513832"/>
            <a:ext cx="1572768" cy="384048"/>
          </a:xfrm>
          <a:prstGeom prst="roundRect">
            <a:avLst>
              <a:gd name="adj" fmla="val 47619"/>
            </a:avLst>
          </a:prstGeom>
          <a:solidFill>
            <a:schemeClr val="accent3"/>
          </a:solidFill>
          <a:ln/>
        </p:spPr>
      </p:sp>
      <p:sp>
        <p:nvSpPr>
          <p:cNvPr id="37" name="Variable Feeling (free text) chip text"/>
          <p:cNvSpPr txBox="1"/>
          <p:nvPr/>
        </p:nvSpPr>
        <p:spPr>
          <a:xfrm>
            <a:off x="6528816" y="5513832"/>
            <a:ext cx="1572768" cy="384048"/>
          </a:xfrm>
          <a:prstGeom prst="rect">
            <a:avLst/>
          </a:prstGeom>
          <a:noFill/>
          <a:ln/>
        </p:spPr>
        <p:txBody>
          <a:bodyPr wrap="square" lIns="0" tIns="0" rIns="0" bIns="0" rtlCol="0" anchor="ctr"/>
          <a:lstStyle/>
          <a:p>
            <a:pPr algn="ctr" indent="0" marL="0">
              <a:buNone/>
            </a:pPr>
            <a:r>
              <a:rPr lang="en-US" sz="1400" b="1" dirty="0">
                <a:solidFill>
                  <a:schemeClr val="bg1"/>
                </a:solidFill>
              </a:rPr>
              <a:t>Feeling (free text)</a:t>
            </a:r>
            <a:endParaRPr lang="en-US" sz="1400" dirty="0"/>
          </a:p>
        </p:txBody>
      </p:sp>
      <p:sp>
        <p:nvSpPr>
          <p:cNvPr id="38" name="Variable Valence 1–5 chip"/>
          <p:cNvSpPr/>
          <p:nvPr/>
        </p:nvSpPr>
        <p:spPr>
          <a:xfrm>
            <a:off x="8211312" y="5513832"/>
            <a:ext cx="1572768" cy="384048"/>
          </a:xfrm>
          <a:prstGeom prst="roundRect">
            <a:avLst>
              <a:gd name="adj" fmla="val 47619"/>
            </a:avLst>
          </a:prstGeom>
          <a:solidFill>
            <a:schemeClr val="accent1"/>
          </a:solidFill>
          <a:ln/>
        </p:spPr>
      </p:sp>
      <p:sp>
        <p:nvSpPr>
          <p:cNvPr id="39" name="Variable Valence 1–5 chip text"/>
          <p:cNvSpPr txBox="1"/>
          <p:nvPr/>
        </p:nvSpPr>
        <p:spPr>
          <a:xfrm>
            <a:off x="8211312" y="5513832"/>
            <a:ext cx="1572768" cy="384048"/>
          </a:xfrm>
          <a:prstGeom prst="rect">
            <a:avLst/>
          </a:prstGeom>
          <a:noFill/>
          <a:ln/>
        </p:spPr>
        <p:txBody>
          <a:bodyPr wrap="square" lIns="0" tIns="0" rIns="0" bIns="0" rtlCol="0" anchor="ctr"/>
          <a:lstStyle/>
          <a:p>
            <a:pPr algn="ctr" indent="0" marL="0">
              <a:buNone/>
            </a:pPr>
            <a:r>
              <a:rPr lang="en-US" sz="1400" b="1" dirty="0">
                <a:solidFill>
                  <a:schemeClr val="bg1"/>
                </a:solidFill>
              </a:rPr>
              <a:t>Valence 1–5</a:t>
            </a:r>
            <a:endParaRPr lang="en-US" sz="1400" dirty="0"/>
          </a:p>
        </p:txBody>
      </p:sp>
      <p:sp>
        <p:nvSpPr>
          <p:cNvPr id="40" name="Variable Arousal 1–5 chip"/>
          <p:cNvSpPr/>
          <p:nvPr/>
        </p:nvSpPr>
        <p:spPr>
          <a:xfrm>
            <a:off x="9893808" y="5513832"/>
            <a:ext cx="1572768" cy="384048"/>
          </a:xfrm>
          <a:prstGeom prst="roundRect">
            <a:avLst>
              <a:gd name="adj" fmla="val 47619"/>
            </a:avLst>
          </a:prstGeom>
          <a:solidFill>
            <a:schemeClr val="accent1"/>
          </a:solidFill>
          <a:ln/>
        </p:spPr>
      </p:sp>
      <p:sp>
        <p:nvSpPr>
          <p:cNvPr id="41" name="Variable Arousal 1–5 chip text"/>
          <p:cNvSpPr txBox="1"/>
          <p:nvPr/>
        </p:nvSpPr>
        <p:spPr>
          <a:xfrm>
            <a:off x="9893808" y="5513832"/>
            <a:ext cx="1572768" cy="384048"/>
          </a:xfrm>
          <a:prstGeom prst="rect">
            <a:avLst/>
          </a:prstGeom>
          <a:noFill/>
          <a:ln/>
        </p:spPr>
        <p:txBody>
          <a:bodyPr wrap="square" lIns="0" tIns="0" rIns="0" bIns="0" rtlCol="0" anchor="ctr"/>
          <a:lstStyle/>
          <a:p>
            <a:pPr algn="ctr" indent="0" marL="0">
              <a:buNone/>
            </a:pPr>
            <a:r>
              <a:rPr lang="en-US" sz="1400" b="1" dirty="0">
                <a:solidFill>
                  <a:schemeClr val="bg1"/>
                </a:solidFill>
              </a:rPr>
              <a:t>Arousal 1–5</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1"/>
                </a:solidFill>
              </a:rPr>
              <a:t>3. Dataset Establishment</a:t>
            </a:r>
            <a:endParaRPr lang="en-US" sz="3400" dirty="0"/>
          </a:p>
        </p:txBody>
      </p:sp>
      <p:sp>
        <p:nvSpPr>
          <p:cNvPr id="3" name="Audio dataset card"/>
          <p:cNvSpPr/>
          <p:nvPr/>
        </p:nvSpPr>
        <p:spPr>
          <a:xfrm>
            <a:off x="548640" y="1371600"/>
            <a:ext cx="4297680" cy="2148840"/>
          </a:xfrm>
          <a:prstGeom prst="roundRect">
            <a:avLst>
              <a:gd name="adj" fmla="val 5106"/>
            </a:avLst>
          </a:prstGeom>
          <a:solidFill>
            <a:schemeClr val="bg2"/>
          </a:solidFill>
          <a:ln/>
        </p:spPr>
      </p:sp>
      <p:sp>
        <p:nvSpPr>
          <p:cNvPr id="4" name="Audio dataset (analysed) label"/>
          <p:cNvSpPr txBox="1"/>
          <p:nvPr/>
        </p:nvSpPr>
        <p:spPr>
          <a:xfrm>
            <a:off x="822960" y="1508760"/>
            <a:ext cx="3840480" cy="347472"/>
          </a:xfrm>
          <a:prstGeom prst="rect">
            <a:avLst/>
          </a:prstGeom>
          <a:noFill/>
          <a:ln/>
        </p:spPr>
        <p:txBody>
          <a:bodyPr wrap="square" lIns="0" tIns="0" rIns="0" bIns="0" rtlCol="0" anchor="ctr"/>
          <a:lstStyle/>
          <a:p>
            <a:pPr indent="0" marL="0">
              <a:buNone/>
            </a:pPr>
            <a:r>
              <a:rPr lang="en-US" sz="1600" b="1" dirty="0">
                <a:solidFill>
                  <a:schemeClr val="accent3"/>
                </a:solidFill>
              </a:rPr>
              <a:t>Audio dataset (analysed)</a:t>
            </a:r>
            <a:endParaRPr lang="en-US" sz="1600" dirty="0"/>
          </a:p>
        </p:txBody>
      </p:sp>
      <p:sp>
        <p:nvSpPr>
          <p:cNvPr id="5" name="Audio dataset bullets"/>
          <p:cNvSpPr txBox="1"/>
          <p:nvPr/>
        </p:nvSpPr>
        <p:spPr>
          <a:xfrm>
            <a:off x="822960" y="1920240"/>
            <a:ext cx="3931920" cy="15544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chemeClr val="tx1"/>
                </a:solidFill>
              </a:rPr>
              <a:t>Group1_audio_feature_dataset.csv: 30 × 78</a:t>
            </a:r>
            <a:endParaRPr lang="en-US" sz="1400" dirty="0"/>
          </a:p>
          <a:p>
            <a:pPr marL="228600" indent="-228600">
              <a:spcAft>
                <a:spcPts val="400"/>
              </a:spcAft>
              <a:buSzPct val="100000"/>
              <a:buChar char="•"/>
            </a:pPr>
            <a:r>
              <a:rPr lang="en-US" sz="1400" dirty="0">
                <a:solidFill>
                  <a:schemeClr val="tx1"/>
                </a:solidFill>
              </a:rPr>
              <a:t>11 metadata and label columns</a:t>
            </a:r>
            <a:endParaRPr lang="en-US" sz="1400" dirty="0"/>
          </a:p>
          <a:p>
            <a:pPr marL="228600" indent="-228600">
              <a:spcAft>
                <a:spcPts val="400"/>
              </a:spcAft>
              <a:buSzPct val="100000"/>
              <a:buChar char="•"/>
            </a:pPr>
            <a:r>
              <a:rPr lang="en-US" sz="1400" dirty="0">
                <a:solidFill>
                  <a:schemeClr val="tx1"/>
                </a:solidFill>
              </a:rPr>
              <a:t>67 acoustic feature columns</a:t>
            </a:r>
            <a:endParaRPr lang="en-US" sz="1400" dirty="0"/>
          </a:p>
          <a:p>
            <a:pPr marL="228600" indent="-228600">
              <a:spcAft>
                <a:spcPts val="400"/>
              </a:spcAft>
              <a:buSzPct val="100000"/>
              <a:buChar char="•"/>
            </a:pPr>
            <a:r>
              <a:rPr lang="en-US" sz="1400" dirty="0">
                <a:solidFill>
                  <a:schemeClr val="tx1"/>
                </a:solidFill>
              </a:rPr>
              <a:t>30 spectrogram images → 512-d embeddings</a:t>
            </a:r>
            <a:endParaRPr lang="en-US" sz="1400" dirty="0"/>
          </a:p>
        </p:txBody>
      </p:sp>
      <p:sp>
        <p:nvSpPr>
          <p:cNvPr id="6" name="Facial dataset card"/>
          <p:cNvSpPr/>
          <p:nvPr/>
        </p:nvSpPr>
        <p:spPr>
          <a:xfrm>
            <a:off x="5074920" y="1371600"/>
            <a:ext cx="2834640" cy="2148840"/>
          </a:xfrm>
          <a:prstGeom prst="roundRect">
            <a:avLst>
              <a:gd name="adj" fmla="val 5106"/>
            </a:avLst>
          </a:prstGeom>
          <a:solidFill>
            <a:schemeClr val="bg2"/>
          </a:solidFill>
          <a:ln/>
        </p:spPr>
      </p:sp>
      <p:sp>
        <p:nvSpPr>
          <p:cNvPr id="7" name="Facial dataset label"/>
          <p:cNvSpPr txBox="1"/>
          <p:nvPr/>
        </p:nvSpPr>
        <p:spPr>
          <a:xfrm>
            <a:off x="5349240" y="1508760"/>
            <a:ext cx="2377440" cy="347472"/>
          </a:xfrm>
          <a:prstGeom prst="rect">
            <a:avLst/>
          </a:prstGeom>
          <a:noFill/>
          <a:ln/>
        </p:spPr>
        <p:txBody>
          <a:bodyPr wrap="square" lIns="0" tIns="0" rIns="0" bIns="0" rtlCol="0" anchor="ctr"/>
          <a:lstStyle/>
          <a:p>
            <a:pPr indent="0" marL="0">
              <a:buNone/>
            </a:pPr>
            <a:r>
              <a:rPr lang="en-US" sz="1600" b="1" dirty="0">
                <a:solidFill>
                  <a:schemeClr val="accent3"/>
                </a:solidFill>
              </a:rPr>
              <a:t>Facial dataset</a:t>
            </a:r>
            <a:endParaRPr lang="en-US" sz="1600" dirty="0"/>
          </a:p>
        </p:txBody>
      </p:sp>
      <p:sp>
        <p:nvSpPr>
          <p:cNvPr id="8" name="Facial dataset bullets"/>
          <p:cNvSpPr txBox="1"/>
          <p:nvPr/>
        </p:nvSpPr>
        <p:spPr>
          <a:xfrm>
            <a:off x="5349240" y="1920240"/>
            <a:ext cx="2468880" cy="15544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chemeClr val="tx1"/>
                </a:solidFill>
              </a:rPr>
              <a:t>30 MP4 videos recorded</a:t>
            </a:r>
            <a:endParaRPr lang="en-US" sz="1400" dirty="0"/>
          </a:p>
          <a:p>
            <a:pPr marL="228600" indent="-228600">
              <a:spcAft>
                <a:spcPts val="400"/>
              </a:spcAft>
              <a:buSzPct val="100000"/>
              <a:buChar char="•"/>
            </a:pPr>
            <a:r>
              <a:rPr lang="en-US" sz="1400" dirty="0">
                <a:solidFill>
                  <a:schemeClr val="tx1"/>
                </a:solidFill>
              </a:rPr>
              <a:t>Not analysed: audio-only scope</a:t>
            </a:r>
            <a:endParaRPr lang="en-US" sz="1400" dirty="0"/>
          </a:p>
          <a:p>
            <a:pPr marL="228600" indent="-228600">
              <a:spcAft>
                <a:spcPts val="400"/>
              </a:spcAft>
              <a:buSzPct val="100000"/>
              <a:buChar char="•"/>
            </a:pPr>
            <a:r>
              <a:rPr lang="en-US" sz="1400" dirty="0">
                <a:solidFill>
                  <a:schemeClr val="tx1"/>
                </a:solidFill>
              </a:rPr>
              <a:t>Raw video kept private</a:t>
            </a:r>
            <a:endParaRPr lang="en-US" sz="1400" dirty="0"/>
          </a:p>
        </p:txBody>
      </p:sp>
      <p:sp>
        <p:nvSpPr>
          <p:cNvPr id="9" name="Labels card"/>
          <p:cNvSpPr/>
          <p:nvPr/>
        </p:nvSpPr>
        <p:spPr>
          <a:xfrm>
            <a:off x="8138160" y="1371600"/>
            <a:ext cx="3502152" cy="2148840"/>
          </a:xfrm>
          <a:prstGeom prst="roundRect">
            <a:avLst>
              <a:gd name="adj" fmla="val 5106"/>
            </a:avLst>
          </a:prstGeom>
          <a:solidFill>
            <a:schemeClr val="bg2"/>
          </a:solidFill>
          <a:ln/>
        </p:spPr>
      </p:sp>
      <p:sp>
        <p:nvSpPr>
          <p:cNvPr id="10" name="Target affect labels label"/>
          <p:cNvSpPr txBox="1"/>
          <p:nvPr/>
        </p:nvSpPr>
        <p:spPr>
          <a:xfrm>
            <a:off x="8412480" y="1508760"/>
            <a:ext cx="3108960" cy="347472"/>
          </a:xfrm>
          <a:prstGeom prst="rect">
            <a:avLst/>
          </a:prstGeom>
          <a:noFill/>
          <a:ln/>
        </p:spPr>
        <p:txBody>
          <a:bodyPr wrap="square" lIns="0" tIns="0" rIns="0" bIns="0" rtlCol="0" anchor="ctr"/>
          <a:lstStyle/>
          <a:p>
            <a:pPr indent="0" marL="0">
              <a:buNone/>
            </a:pPr>
            <a:r>
              <a:rPr lang="en-US" sz="1600" b="1" dirty="0">
                <a:solidFill>
                  <a:schemeClr val="accent3"/>
                </a:solidFill>
              </a:rPr>
              <a:t>Target affect labels</a:t>
            </a:r>
            <a:endParaRPr lang="en-US" sz="1600" dirty="0"/>
          </a:p>
        </p:txBody>
      </p:sp>
      <p:sp>
        <p:nvSpPr>
          <p:cNvPr id="11" name="Valence (positive = 4–5) name"/>
          <p:cNvSpPr txBox="1"/>
          <p:nvPr/>
        </p:nvSpPr>
        <p:spPr>
          <a:xfrm>
            <a:off x="8412480" y="1920240"/>
            <a:ext cx="3017520" cy="274320"/>
          </a:xfrm>
          <a:prstGeom prst="rect">
            <a:avLst/>
          </a:prstGeom>
          <a:noFill/>
          <a:ln/>
        </p:spPr>
        <p:txBody>
          <a:bodyPr wrap="square" lIns="0" tIns="0" rIns="0" bIns="0" rtlCol="0" anchor="ctr"/>
          <a:lstStyle/>
          <a:p>
            <a:pPr indent="0" marL="0">
              <a:buNone/>
            </a:pPr>
            <a:r>
              <a:rPr lang="en-US" sz="1400" b="1" dirty="0">
                <a:solidFill>
                  <a:schemeClr val="tx1"/>
                </a:solidFill>
              </a:rPr>
              <a:t>Valence (positive = 4–5)</a:t>
            </a:r>
            <a:endParaRPr lang="en-US" sz="1400" dirty="0"/>
          </a:p>
        </p:txBody>
      </p:sp>
      <p:sp>
        <p:nvSpPr>
          <p:cNvPr id="12" name="Valence (positive = 4–5) bar A"/>
          <p:cNvSpPr/>
          <p:nvPr/>
        </p:nvSpPr>
        <p:spPr>
          <a:xfrm>
            <a:off x="8412480" y="2221992"/>
            <a:ext cx="1188720" cy="384048"/>
          </a:xfrm>
          <a:prstGeom prst="rect">
            <a:avLst/>
          </a:prstGeom>
          <a:solidFill>
            <a:schemeClr val="accent1"/>
          </a:solidFill>
          <a:ln/>
        </p:spPr>
      </p:sp>
      <p:sp>
        <p:nvSpPr>
          <p:cNvPr id="13" name="Valence (positive = 4–5) bar B"/>
          <p:cNvSpPr/>
          <p:nvPr/>
        </p:nvSpPr>
        <p:spPr>
          <a:xfrm>
            <a:off x="9601200" y="2221992"/>
            <a:ext cx="1783080" cy="384048"/>
          </a:xfrm>
          <a:prstGeom prst="rect">
            <a:avLst/>
          </a:prstGeom>
          <a:solidFill>
            <a:schemeClr val="accent3"/>
          </a:solidFill>
          <a:ln/>
        </p:spPr>
      </p:sp>
      <p:sp>
        <p:nvSpPr>
          <p:cNvPr id="14" name="Valence (positive = 4–5) A text"/>
          <p:cNvSpPr txBox="1"/>
          <p:nvPr/>
        </p:nvSpPr>
        <p:spPr>
          <a:xfrm>
            <a:off x="8412480" y="2221992"/>
            <a:ext cx="1188720" cy="384048"/>
          </a:xfrm>
          <a:prstGeom prst="rect">
            <a:avLst/>
          </a:prstGeom>
          <a:noFill/>
          <a:ln/>
        </p:spPr>
        <p:txBody>
          <a:bodyPr wrap="square" lIns="0" tIns="0" rIns="0" bIns="0" rtlCol="0" anchor="ctr"/>
          <a:lstStyle/>
          <a:p>
            <a:pPr algn="ctr" indent="0" marL="0">
              <a:buNone/>
            </a:pPr>
            <a:r>
              <a:rPr lang="en-US" sz="1200" b="1" dirty="0">
                <a:solidFill>
                  <a:schemeClr val="bg1"/>
                </a:solidFill>
              </a:rPr>
              <a:t>positive 12</a:t>
            </a:r>
            <a:endParaRPr lang="en-US" sz="1200" dirty="0"/>
          </a:p>
        </p:txBody>
      </p:sp>
      <p:sp>
        <p:nvSpPr>
          <p:cNvPr id="15" name="Valence (positive = 4–5) B text"/>
          <p:cNvSpPr txBox="1"/>
          <p:nvPr/>
        </p:nvSpPr>
        <p:spPr>
          <a:xfrm>
            <a:off x="9601200" y="2221992"/>
            <a:ext cx="1783080" cy="384048"/>
          </a:xfrm>
          <a:prstGeom prst="rect">
            <a:avLst/>
          </a:prstGeom>
          <a:noFill/>
          <a:ln/>
        </p:spPr>
        <p:txBody>
          <a:bodyPr wrap="square" lIns="0" tIns="0" rIns="0" bIns="0" rtlCol="0" anchor="ctr"/>
          <a:lstStyle/>
          <a:p>
            <a:pPr algn="ctr" indent="0" marL="0">
              <a:buNone/>
            </a:pPr>
            <a:r>
              <a:rPr lang="en-US" sz="1200" b="1" dirty="0">
                <a:solidFill>
                  <a:schemeClr val="bg1"/>
                </a:solidFill>
              </a:rPr>
              <a:t>non-positive 18</a:t>
            </a:r>
            <a:endParaRPr lang="en-US" sz="1200" dirty="0"/>
          </a:p>
        </p:txBody>
      </p:sp>
      <p:sp>
        <p:nvSpPr>
          <p:cNvPr id="16" name="Arousal (high = 4–5) name"/>
          <p:cNvSpPr txBox="1"/>
          <p:nvPr/>
        </p:nvSpPr>
        <p:spPr>
          <a:xfrm>
            <a:off x="8412480" y="2697480"/>
            <a:ext cx="3017520" cy="274320"/>
          </a:xfrm>
          <a:prstGeom prst="rect">
            <a:avLst/>
          </a:prstGeom>
          <a:noFill/>
          <a:ln/>
        </p:spPr>
        <p:txBody>
          <a:bodyPr wrap="square" lIns="0" tIns="0" rIns="0" bIns="0" rtlCol="0" anchor="ctr"/>
          <a:lstStyle/>
          <a:p>
            <a:pPr indent="0" marL="0">
              <a:buNone/>
            </a:pPr>
            <a:r>
              <a:rPr lang="en-US" sz="1400" b="1" dirty="0">
                <a:solidFill>
                  <a:schemeClr val="tx1"/>
                </a:solidFill>
              </a:rPr>
              <a:t>Arousal (high = 4–5)</a:t>
            </a:r>
            <a:endParaRPr lang="en-US" sz="1400" dirty="0"/>
          </a:p>
        </p:txBody>
      </p:sp>
      <p:sp>
        <p:nvSpPr>
          <p:cNvPr id="17" name="Arousal (high = 4–5) bar A"/>
          <p:cNvSpPr/>
          <p:nvPr/>
        </p:nvSpPr>
        <p:spPr>
          <a:xfrm>
            <a:off x="8412480" y="2999232"/>
            <a:ext cx="990600" cy="384048"/>
          </a:xfrm>
          <a:prstGeom prst="rect">
            <a:avLst/>
          </a:prstGeom>
          <a:solidFill>
            <a:schemeClr val="accent2"/>
          </a:solidFill>
          <a:ln/>
        </p:spPr>
      </p:sp>
      <p:sp>
        <p:nvSpPr>
          <p:cNvPr id="18" name="Arousal (high = 4–5) bar B"/>
          <p:cNvSpPr/>
          <p:nvPr/>
        </p:nvSpPr>
        <p:spPr>
          <a:xfrm>
            <a:off x="9403080" y="2999232"/>
            <a:ext cx="1981200" cy="384048"/>
          </a:xfrm>
          <a:prstGeom prst="rect">
            <a:avLst/>
          </a:prstGeom>
          <a:solidFill>
            <a:schemeClr val="accent3"/>
          </a:solidFill>
          <a:ln/>
        </p:spPr>
      </p:sp>
      <p:sp>
        <p:nvSpPr>
          <p:cNvPr id="19" name="Arousal (high = 4–5) A text"/>
          <p:cNvSpPr txBox="1"/>
          <p:nvPr/>
        </p:nvSpPr>
        <p:spPr>
          <a:xfrm>
            <a:off x="8412480" y="2999232"/>
            <a:ext cx="990600" cy="384048"/>
          </a:xfrm>
          <a:prstGeom prst="rect">
            <a:avLst/>
          </a:prstGeom>
          <a:noFill/>
          <a:ln/>
        </p:spPr>
        <p:txBody>
          <a:bodyPr wrap="square" lIns="0" tIns="0" rIns="0" bIns="0" rtlCol="0" anchor="ctr"/>
          <a:lstStyle/>
          <a:p>
            <a:pPr algn="ctr" indent="0" marL="0">
              <a:buNone/>
            </a:pPr>
            <a:r>
              <a:rPr lang="en-US" sz="1200" b="1" dirty="0">
                <a:solidFill>
                  <a:schemeClr val="bg1"/>
                </a:solidFill>
              </a:rPr>
              <a:t>high 10</a:t>
            </a:r>
            <a:endParaRPr lang="en-US" sz="1200" dirty="0"/>
          </a:p>
        </p:txBody>
      </p:sp>
      <p:sp>
        <p:nvSpPr>
          <p:cNvPr id="20" name="Arousal (high = 4–5) B text"/>
          <p:cNvSpPr txBox="1"/>
          <p:nvPr/>
        </p:nvSpPr>
        <p:spPr>
          <a:xfrm>
            <a:off x="9403080" y="2999232"/>
            <a:ext cx="1981200" cy="384048"/>
          </a:xfrm>
          <a:prstGeom prst="rect">
            <a:avLst/>
          </a:prstGeom>
          <a:noFill/>
          <a:ln/>
        </p:spPr>
        <p:txBody>
          <a:bodyPr wrap="square" lIns="0" tIns="0" rIns="0" bIns="0" rtlCol="0" anchor="ctr"/>
          <a:lstStyle/>
          <a:p>
            <a:pPr algn="ctr" indent="0" marL="0">
              <a:buNone/>
            </a:pPr>
            <a:r>
              <a:rPr lang="en-US" sz="1200" b="1" dirty="0">
                <a:solidFill>
                  <a:schemeClr val="bg1"/>
                </a:solidFill>
              </a:rPr>
              <a:t>low-mod 20</a:t>
            </a:r>
            <a:endParaRPr lang="en-US" sz="1200" dirty="0"/>
          </a:p>
        </p:txBody>
      </p:sp>
      <p:sp>
        <p:nvSpPr>
          <p:cNvPr id="21" name="Sample records (3 of 30, selected columns) label"/>
          <p:cNvSpPr txBox="1"/>
          <p:nvPr/>
        </p:nvSpPr>
        <p:spPr>
          <a:xfrm>
            <a:off x="548640" y="3703320"/>
            <a:ext cx="7315200" cy="347472"/>
          </a:xfrm>
          <a:prstGeom prst="rect">
            <a:avLst/>
          </a:prstGeom>
          <a:noFill/>
          <a:ln/>
        </p:spPr>
        <p:txBody>
          <a:bodyPr wrap="square" lIns="0" tIns="0" rIns="0" bIns="0" rtlCol="0" anchor="ctr"/>
          <a:lstStyle/>
          <a:p>
            <a:pPr indent="0" marL="0">
              <a:buNone/>
            </a:pPr>
            <a:r>
              <a:rPr lang="en-US" sz="1600" b="1" dirty="0">
                <a:solidFill>
                  <a:schemeClr val="accent3"/>
                </a:solidFill>
              </a:rPr>
              <a:t>Sample records (3 of 30, selected columns)</a:t>
            </a:r>
            <a:endParaRPr lang="en-US" sz="1600" dirty="0"/>
          </a:p>
        </p:txBody>
      </p:sp>
      <p:graphicFrame>
        <p:nvGraphicFramePr>
          <p:cNvPr id="4" name="Sample records table"/>
          <p:cNvGraphicFramePr>
            <a:graphicFrameLocks noGrp="1"/>
          </p:cNvGraphicFramePr>
          <p:nvPr>
            <p:extLst>
              <p:ext uri="{D42A27DB-BD31-4B8C-83A1-F6EECF244321}">
                <p14:modId xmlns:p14="http://schemas.microsoft.com/office/powerpoint/2010/main" val="1579011935"/>
              </p:ext>
            </p:extLst>
          </p:nvPr>
        </p:nvGraphicFramePr>
        <p:xfrm>
          <a:off x="548640" y="4114800"/>
          <a:ext cx="11091672" cy="914400"/>
        </p:xfrm>
        <a:graphic>
          <a:graphicData uri="http://schemas.openxmlformats.org/drawingml/2006/table">
            <a:tbl>
              <a:tblPr/>
              <a:tblGrid>
                <a:gridCol w="914400"/>
                <a:gridCol w="914400"/>
                <a:gridCol w="1417320"/>
                <a:gridCol w="502920"/>
                <a:gridCol w="502920"/>
                <a:gridCol w="1417320"/>
                <a:gridCol w="1325880"/>
                <a:gridCol w="1325880"/>
                <a:gridCol w="1463040"/>
                <a:gridCol w="1307592"/>
              </a:tblGrid>
              <a:tr h="438912">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Word</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Activity</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V</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Valence class</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Arousal class</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Duration (s)</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f0 mean (Hz)</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RMS mean</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35206B"/>
                    </a:solidFill>
                  </a:tcPr>
                </a:tc>
              </a:tr>
              <a:tr h="438912">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Y1-001</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Kapoy</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Examination</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positive</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1.58</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362.5</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r>
              <a:tr h="438912">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Y1-013</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Lingaw</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Presentation</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positive</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0.82</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165.5</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0.095</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Y1-030</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Kapoy</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Lecture</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non-positive</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low-mod</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0.74</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141.6</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0.134</a:t>
                      </a:r>
                      <a:endParaRPr lang="en-US" sz="1400" dirty="0">
                        <a:latin typeface="Calibri" charset="0"/>
                        <a:ea typeface="Calibri" charset="0"/>
                        <a:cs typeface="Calibri" charset="0"/>
                      </a:endParaRPr>
                    </a:p>
                  </a:txBody>
                  <a:tcPr marL="45720" marR="45720" marT="0" marB="0" anchor="ctr">
                    <a:lnL w="0" cap="flat" cmpd="sng" algn="ctr">
                      <a:noFill/>
                    </a:lnL>
                    <a:lnR w="0" cap="flat" cmpd="sng" algn="ctr">
                      <a:noFill/>
                    </a:lnR>
                    <a:lnT w="0" cap="flat" cmpd="sng" algn="ctr">
                      <a:noFill/>
                    </a:lnT>
                    <a:lnB w="0" cap="flat" cmpd="sng" algn="ctr">
                      <a:noFill/>
                    </a:lnB>
                    <a:solidFill>
                      <a:srgbClr val="F3EFF8"/>
                    </a:solidFill>
                  </a:tcPr>
                </a:tc>
              </a:tr>
            </a:tbl>
          </a:graphicData>
        </a:graphic>
      </p:graphicFrame>
      <p:sp>
        <p:nvSpPr>
          <p:cNvPr id="23" name="Caption"/>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1100" i="1" dirty="0">
                <a:solidFill>
                  <a:schemeClr val="tx2"/>
                </a:solidFill>
              </a:rPr>
              <a:t>V, A = self-reported valence and arousal (1–5). Classes are derived labels; the other 64 features are in the CSV.</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1"/>
                </a:solidFill>
              </a:rPr>
              <a:t>4. Preprocessing and Feature Extraction</a:t>
            </a:r>
            <a:endParaRPr lang="en-US" sz="3400" dirty="0"/>
          </a:p>
        </p:txBody>
      </p:sp>
      <p:sp>
        <p:nvSpPr>
          <p:cNvPr id="3" name="Prep step 1"/>
          <p:cNvSpPr/>
          <p:nvPr/>
        </p:nvSpPr>
        <p:spPr>
          <a:xfrm>
            <a:off x="548640" y="1325880"/>
            <a:ext cx="1975104" cy="731520"/>
          </a:xfrm>
          <a:prstGeom prst="roundRect">
            <a:avLst>
              <a:gd name="adj" fmla="val 12500"/>
            </a:avLst>
          </a:prstGeom>
          <a:solidFill>
            <a:schemeClr val="accent3"/>
          </a:solidFill>
          <a:ln/>
        </p:spPr>
      </p:sp>
      <p:sp>
        <p:nvSpPr>
          <p:cNvPr id="4" name="Prep step 1 text"/>
          <p:cNvSpPr txBox="1"/>
          <p:nvPr/>
        </p:nvSpPr>
        <p:spPr>
          <a:xfrm>
            <a:off x="640080" y="1325880"/>
            <a:ext cx="1792224" cy="731520"/>
          </a:xfrm>
          <a:prstGeom prst="rect">
            <a:avLst/>
          </a:prstGeom>
          <a:noFill/>
          <a:ln/>
        </p:spPr>
        <p:txBody>
          <a:bodyPr wrap="square" lIns="0" tIns="0" rIns="0" bIns="0" rtlCol="0" anchor="ctr"/>
          <a:lstStyle/>
          <a:p>
            <a:pPr algn="ctr" indent="0" marL="0">
              <a:buNone/>
            </a:pPr>
            <a:r>
              <a:rPr lang="en-US" sz="1500" b="1" dirty="0">
                <a:solidFill>
                  <a:schemeClr val="bg1"/>
                </a:solidFill>
              </a:rPr>
              <a:t>Raw WAV 192 kHz stereo</a:t>
            </a:r>
            <a:endParaRPr lang="en-US" sz="1500" dirty="0"/>
          </a:p>
        </p:txBody>
      </p:sp>
      <p:pic>
        <p:nvPicPr>
          <p:cNvPr id="5" name="Prep arrow 1" descr="next">    </p:cNvPr>
          <p:cNvPicPr>
            <a:picLocks noChangeAspect="1"/>
          </p:cNvPicPr>
          <p:nvPr/>
        </p:nvPicPr>
        <p:blipFill>
          <a:blip r:embed="rId1"/>
          <a:stretch>
            <a:fillRect/>
          </a:stretch>
        </p:blipFill>
        <p:spPr>
          <a:xfrm>
            <a:off x="2560320" y="1572768"/>
            <a:ext cx="201168" cy="237744"/>
          </a:xfrm>
          <a:prstGeom prst="rect">
            <a:avLst/>
          </a:prstGeom>
        </p:spPr>
      </p:pic>
      <p:sp>
        <p:nvSpPr>
          <p:cNvPr id="6" name="Prep step 2"/>
          <p:cNvSpPr/>
          <p:nvPr/>
        </p:nvSpPr>
        <p:spPr>
          <a:xfrm>
            <a:off x="2798064" y="1325880"/>
            <a:ext cx="1975104" cy="731520"/>
          </a:xfrm>
          <a:prstGeom prst="roundRect">
            <a:avLst>
              <a:gd name="adj" fmla="val 12500"/>
            </a:avLst>
          </a:prstGeom>
          <a:solidFill>
            <a:schemeClr val="accent3"/>
          </a:solidFill>
          <a:ln/>
        </p:spPr>
      </p:sp>
      <p:sp>
        <p:nvSpPr>
          <p:cNvPr id="7" name="Prep step 2 text"/>
          <p:cNvSpPr txBox="1"/>
          <p:nvPr/>
        </p:nvSpPr>
        <p:spPr>
          <a:xfrm>
            <a:off x="2889504" y="1325880"/>
            <a:ext cx="1792224" cy="731520"/>
          </a:xfrm>
          <a:prstGeom prst="rect">
            <a:avLst/>
          </a:prstGeom>
          <a:noFill/>
          <a:ln/>
        </p:spPr>
        <p:txBody>
          <a:bodyPr wrap="square" lIns="0" tIns="0" rIns="0" bIns="0" rtlCol="0" anchor="ctr"/>
          <a:lstStyle/>
          <a:p>
            <a:pPr algn="ctr" indent="0" marL="0">
              <a:buNone/>
            </a:pPr>
            <a:r>
              <a:rPr lang="en-US" sz="1500" b="1" dirty="0">
                <a:solidFill>
                  <a:schemeClr val="bg1"/>
                </a:solidFill>
              </a:rPr>
              <a:t>Resample 16 kHz mono</a:t>
            </a:r>
            <a:endParaRPr lang="en-US" sz="1500" dirty="0"/>
          </a:p>
        </p:txBody>
      </p:sp>
      <p:pic>
        <p:nvPicPr>
          <p:cNvPr id="8" name="Prep arrow 2" descr="next">    </p:cNvPr>
          <p:cNvPicPr>
            <a:picLocks noChangeAspect="1"/>
          </p:cNvPicPr>
          <p:nvPr/>
        </p:nvPicPr>
        <p:blipFill>
          <a:blip r:embed="rId2"/>
          <a:stretch>
            <a:fillRect/>
          </a:stretch>
        </p:blipFill>
        <p:spPr>
          <a:xfrm>
            <a:off x="4809744" y="1572768"/>
            <a:ext cx="201168" cy="237744"/>
          </a:xfrm>
          <a:prstGeom prst="rect">
            <a:avLst/>
          </a:prstGeom>
        </p:spPr>
      </p:pic>
      <p:sp>
        <p:nvSpPr>
          <p:cNvPr id="9" name="Prep step 3"/>
          <p:cNvSpPr/>
          <p:nvPr/>
        </p:nvSpPr>
        <p:spPr>
          <a:xfrm>
            <a:off x="5047488" y="1325880"/>
            <a:ext cx="1975104" cy="731520"/>
          </a:xfrm>
          <a:prstGeom prst="roundRect">
            <a:avLst>
              <a:gd name="adj" fmla="val 12500"/>
            </a:avLst>
          </a:prstGeom>
          <a:solidFill>
            <a:schemeClr val="accent3"/>
          </a:solidFill>
          <a:ln/>
        </p:spPr>
      </p:sp>
      <p:sp>
        <p:nvSpPr>
          <p:cNvPr id="10" name="Prep step 3 text"/>
          <p:cNvSpPr txBox="1"/>
          <p:nvPr/>
        </p:nvSpPr>
        <p:spPr>
          <a:xfrm>
            <a:off x="5138928" y="1325880"/>
            <a:ext cx="1792224" cy="731520"/>
          </a:xfrm>
          <a:prstGeom prst="rect">
            <a:avLst/>
          </a:prstGeom>
          <a:noFill/>
          <a:ln/>
        </p:spPr>
        <p:txBody>
          <a:bodyPr wrap="square" lIns="0" tIns="0" rIns="0" bIns="0" rtlCol="0" anchor="ctr"/>
          <a:lstStyle/>
          <a:p>
            <a:pPr algn="ctr" indent="0" marL="0">
              <a:buNone/>
            </a:pPr>
            <a:r>
              <a:rPr lang="en-US" sz="1500" b="1" dirty="0">
                <a:solidFill>
                  <a:schemeClr val="bg1"/>
                </a:solidFill>
              </a:rPr>
              <a:t>Trim silence (25 dB)</a:t>
            </a:r>
            <a:endParaRPr lang="en-US" sz="1500" dirty="0"/>
          </a:p>
        </p:txBody>
      </p:sp>
      <p:pic>
        <p:nvPicPr>
          <p:cNvPr id="11" name="Prep arrow 3" descr="next">    </p:cNvPr>
          <p:cNvPicPr>
            <a:picLocks noChangeAspect="1"/>
          </p:cNvPicPr>
          <p:nvPr/>
        </p:nvPicPr>
        <p:blipFill>
          <a:blip r:embed="rId3"/>
          <a:stretch>
            <a:fillRect/>
          </a:stretch>
        </p:blipFill>
        <p:spPr>
          <a:xfrm>
            <a:off x="7059168" y="1572768"/>
            <a:ext cx="201168" cy="237744"/>
          </a:xfrm>
          <a:prstGeom prst="rect">
            <a:avLst/>
          </a:prstGeom>
        </p:spPr>
      </p:pic>
      <p:sp>
        <p:nvSpPr>
          <p:cNvPr id="12" name="Prep step 4"/>
          <p:cNvSpPr/>
          <p:nvPr/>
        </p:nvSpPr>
        <p:spPr>
          <a:xfrm>
            <a:off x="7296912" y="1325880"/>
            <a:ext cx="1975104" cy="731520"/>
          </a:xfrm>
          <a:prstGeom prst="roundRect">
            <a:avLst>
              <a:gd name="adj" fmla="val 12500"/>
            </a:avLst>
          </a:prstGeom>
          <a:solidFill>
            <a:schemeClr val="accent3"/>
          </a:solidFill>
          <a:ln/>
        </p:spPr>
      </p:sp>
      <p:sp>
        <p:nvSpPr>
          <p:cNvPr id="13" name="Prep step 4 text"/>
          <p:cNvSpPr txBox="1"/>
          <p:nvPr/>
        </p:nvSpPr>
        <p:spPr>
          <a:xfrm>
            <a:off x="7388352" y="1325880"/>
            <a:ext cx="1792224" cy="731520"/>
          </a:xfrm>
          <a:prstGeom prst="rect">
            <a:avLst/>
          </a:prstGeom>
          <a:noFill/>
          <a:ln/>
        </p:spPr>
        <p:txBody>
          <a:bodyPr wrap="square" lIns="0" tIns="0" rIns="0" bIns="0" rtlCol="0" anchor="ctr"/>
          <a:lstStyle/>
          <a:p>
            <a:pPr algn="ctr" indent="0" marL="0">
              <a:buNone/>
            </a:pPr>
            <a:r>
              <a:rPr lang="en-US" sz="1500" b="1" dirty="0">
                <a:solidFill>
                  <a:schemeClr val="bg1"/>
                </a:solidFill>
              </a:rPr>
              <a:t>Peak-normalise</a:t>
            </a:r>
            <a:endParaRPr lang="en-US" sz="1500" dirty="0"/>
          </a:p>
        </p:txBody>
      </p:sp>
      <p:pic>
        <p:nvPicPr>
          <p:cNvPr id="14" name="Prep arrow 4" descr="next">    </p:cNvPr>
          <p:cNvPicPr>
            <a:picLocks noChangeAspect="1"/>
          </p:cNvPicPr>
          <p:nvPr/>
        </p:nvPicPr>
        <p:blipFill>
          <a:blip r:embed="rId4"/>
          <a:stretch>
            <a:fillRect/>
          </a:stretch>
        </p:blipFill>
        <p:spPr>
          <a:xfrm>
            <a:off x="9308592" y="1572768"/>
            <a:ext cx="201168" cy="237744"/>
          </a:xfrm>
          <a:prstGeom prst="rect">
            <a:avLst/>
          </a:prstGeom>
        </p:spPr>
      </p:pic>
      <p:sp>
        <p:nvSpPr>
          <p:cNvPr id="15" name="Prep step 5"/>
          <p:cNvSpPr/>
          <p:nvPr/>
        </p:nvSpPr>
        <p:spPr>
          <a:xfrm>
            <a:off x="9546336" y="1325880"/>
            <a:ext cx="1975104" cy="731520"/>
          </a:xfrm>
          <a:prstGeom prst="roundRect">
            <a:avLst>
              <a:gd name="adj" fmla="val 12500"/>
            </a:avLst>
          </a:prstGeom>
          <a:solidFill>
            <a:schemeClr val="accent1"/>
          </a:solidFill>
          <a:ln/>
        </p:spPr>
      </p:sp>
      <p:sp>
        <p:nvSpPr>
          <p:cNvPr id="16" name="Prep step 5 text"/>
          <p:cNvSpPr txBox="1"/>
          <p:nvPr/>
        </p:nvSpPr>
        <p:spPr>
          <a:xfrm>
            <a:off x="9637776" y="1325880"/>
            <a:ext cx="1792224" cy="731520"/>
          </a:xfrm>
          <a:prstGeom prst="rect">
            <a:avLst/>
          </a:prstGeom>
          <a:noFill/>
          <a:ln/>
        </p:spPr>
        <p:txBody>
          <a:bodyPr wrap="square" lIns="0" tIns="0" rIns="0" bIns="0" rtlCol="0" anchor="ctr"/>
          <a:lstStyle/>
          <a:p>
            <a:pPr algn="ctr" indent="0" marL="0">
              <a:buNone/>
            </a:pPr>
            <a:r>
              <a:rPr lang="en-US" sz="1500" b="1" dirty="0">
                <a:solidFill>
                  <a:schemeClr val="bg1"/>
                </a:solidFill>
              </a:rPr>
              <a:t>Extract features</a:t>
            </a:r>
            <a:endParaRPr lang="en-US" sz="1500" dirty="0"/>
          </a:p>
        </p:txBody>
      </p:sp>
      <p:sp>
        <p:nvSpPr>
          <p:cNvPr id="17" name="MFCC card"/>
          <p:cNvSpPr/>
          <p:nvPr/>
        </p:nvSpPr>
        <p:spPr>
          <a:xfrm>
            <a:off x="548640" y="2377440"/>
            <a:ext cx="2926080" cy="1097280"/>
          </a:xfrm>
          <a:prstGeom prst="roundRect">
            <a:avLst>
              <a:gd name="adj" fmla="val 10000"/>
            </a:avLst>
          </a:prstGeom>
          <a:solidFill>
            <a:schemeClr val="bg2"/>
          </a:solidFill>
          <a:ln/>
        </p:spPr>
      </p:sp>
      <p:sp>
        <p:nvSpPr>
          <p:cNvPr id="18" name="MFCC heading"/>
          <p:cNvSpPr txBox="1"/>
          <p:nvPr/>
        </p:nvSpPr>
        <p:spPr>
          <a:xfrm>
            <a:off x="777240" y="2487168"/>
            <a:ext cx="1920240" cy="329184"/>
          </a:xfrm>
          <a:prstGeom prst="rect">
            <a:avLst/>
          </a:prstGeom>
          <a:noFill/>
          <a:ln/>
        </p:spPr>
        <p:txBody>
          <a:bodyPr wrap="square" lIns="0" tIns="0" rIns="0" bIns="0" rtlCol="0" anchor="ctr"/>
          <a:lstStyle/>
          <a:p>
            <a:pPr indent="0" marL="0">
              <a:buNone/>
            </a:pPr>
            <a:r>
              <a:rPr lang="en-US" sz="1600" b="1" dirty="0">
                <a:solidFill>
                  <a:schemeClr val="accent3"/>
                </a:solidFill>
              </a:rPr>
              <a:t>MFCC</a:t>
            </a:r>
            <a:endParaRPr lang="en-US" sz="1600" dirty="0"/>
          </a:p>
        </p:txBody>
      </p:sp>
      <p:sp>
        <p:nvSpPr>
          <p:cNvPr id="19" name="MFCC count"/>
          <p:cNvSpPr txBox="1"/>
          <p:nvPr/>
        </p:nvSpPr>
        <p:spPr>
          <a:xfrm>
            <a:off x="2560320" y="2450592"/>
            <a:ext cx="731520" cy="384048"/>
          </a:xfrm>
          <a:prstGeom prst="rect">
            <a:avLst/>
          </a:prstGeom>
          <a:noFill/>
          <a:ln/>
        </p:spPr>
        <p:txBody>
          <a:bodyPr wrap="square" lIns="0" tIns="0" rIns="0" bIns="0" rtlCol="0" anchor="ctr"/>
          <a:lstStyle/>
          <a:p>
            <a:pPr algn="r" indent="0" marL="0">
              <a:buNone/>
            </a:pPr>
            <a:r>
              <a:rPr lang="en-US" sz="2000" b="1" dirty="0">
                <a:solidFill>
                  <a:schemeClr val="accent1"/>
                </a:solidFill>
                <a:latin typeface="Cambria" pitchFamily="34" charset="0"/>
                <a:ea typeface="Cambria" pitchFamily="34" charset="-122"/>
                <a:cs typeface="Cambria" pitchFamily="34" charset="-120"/>
              </a:rPr>
              <a:t>52</a:t>
            </a:r>
            <a:endParaRPr lang="en-US" sz="2000" dirty="0"/>
          </a:p>
        </p:txBody>
      </p:sp>
      <p:sp>
        <p:nvSpPr>
          <p:cNvPr id="20" name="MFCC text"/>
          <p:cNvSpPr txBox="1"/>
          <p:nvPr/>
        </p:nvSpPr>
        <p:spPr>
          <a:xfrm>
            <a:off x="777240" y="2852928"/>
            <a:ext cx="2560320" cy="566928"/>
          </a:xfrm>
          <a:prstGeom prst="rect">
            <a:avLst/>
          </a:prstGeom>
          <a:noFill/>
          <a:ln/>
        </p:spPr>
        <p:txBody>
          <a:bodyPr wrap="square" lIns="0" tIns="0" rIns="0" bIns="0" rtlCol="0" anchor="t"/>
          <a:lstStyle/>
          <a:p>
            <a:pPr indent="0" marL="0">
              <a:buNone/>
            </a:pPr>
            <a:r>
              <a:rPr lang="en-US" sz="1400" dirty="0">
                <a:solidFill>
                  <a:schemeClr val="tx1"/>
                </a:solidFill>
              </a:rPr>
              <a:t>13 coefficients: mean, SD, Δ and ΔΔ SD</a:t>
            </a:r>
            <a:endParaRPr lang="en-US" sz="1400" dirty="0"/>
          </a:p>
        </p:txBody>
      </p:sp>
      <p:sp>
        <p:nvSpPr>
          <p:cNvPr id="21" name="Pitch (f0) card"/>
          <p:cNvSpPr/>
          <p:nvPr/>
        </p:nvSpPr>
        <p:spPr>
          <a:xfrm>
            <a:off x="3657600" y="2377440"/>
            <a:ext cx="2926080" cy="1097280"/>
          </a:xfrm>
          <a:prstGeom prst="roundRect">
            <a:avLst>
              <a:gd name="adj" fmla="val 10000"/>
            </a:avLst>
          </a:prstGeom>
          <a:solidFill>
            <a:schemeClr val="bg2"/>
          </a:solidFill>
          <a:ln/>
        </p:spPr>
      </p:sp>
      <p:sp>
        <p:nvSpPr>
          <p:cNvPr id="22" name="Pitch (f0) heading"/>
          <p:cNvSpPr txBox="1"/>
          <p:nvPr/>
        </p:nvSpPr>
        <p:spPr>
          <a:xfrm>
            <a:off x="3886200" y="2487168"/>
            <a:ext cx="1920240" cy="329184"/>
          </a:xfrm>
          <a:prstGeom prst="rect">
            <a:avLst/>
          </a:prstGeom>
          <a:noFill/>
          <a:ln/>
        </p:spPr>
        <p:txBody>
          <a:bodyPr wrap="square" lIns="0" tIns="0" rIns="0" bIns="0" rtlCol="0" anchor="ctr"/>
          <a:lstStyle/>
          <a:p>
            <a:pPr indent="0" marL="0">
              <a:buNone/>
            </a:pPr>
            <a:r>
              <a:rPr lang="en-US" sz="1600" b="1" dirty="0">
                <a:solidFill>
                  <a:schemeClr val="accent3"/>
                </a:solidFill>
              </a:rPr>
              <a:t>Pitch (f0)</a:t>
            </a:r>
            <a:endParaRPr lang="en-US" sz="1600" dirty="0"/>
          </a:p>
        </p:txBody>
      </p:sp>
      <p:sp>
        <p:nvSpPr>
          <p:cNvPr id="23" name="Pitch (f0) count"/>
          <p:cNvSpPr txBox="1"/>
          <p:nvPr/>
        </p:nvSpPr>
        <p:spPr>
          <a:xfrm>
            <a:off x="5669280" y="2450592"/>
            <a:ext cx="731520" cy="384048"/>
          </a:xfrm>
          <a:prstGeom prst="rect">
            <a:avLst/>
          </a:prstGeom>
          <a:noFill/>
          <a:ln/>
        </p:spPr>
        <p:txBody>
          <a:bodyPr wrap="square" lIns="0" tIns="0" rIns="0" bIns="0" rtlCol="0" anchor="ctr"/>
          <a:lstStyle/>
          <a:p>
            <a:pPr algn="r" indent="0" marL="0">
              <a:buNone/>
            </a:pPr>
            <a:r>
              <a:rPr lang="en-US" sz="2000" b="1" dirty="0">
                <a:solidFill>
                  <a:schemeClr val="accent1"/>
                </a:solidFill>
                <a:latin typeface="Cambria" pitchFamily="34" charset="0"/>
                <a:ea typeface="Cambria" pitchFamily="34" charset="-122"/>
                <a:cs typeface="Cambria" pitchFamily="34" charset="-120"/>
              </a:rPr>
              <a:t>4</a:t>
            </a:r>
            <a:endParaRPr lang="en-US" sz="2000" dirty="0"/>
          </a:p>
        </p:txBody>
      </p:sp>
      <p:sp>
        <p:nvSpPr>
          <p:cNvPr id="24" name="Pitch (f0) text"/>
          <p:cNvSpPr txBox="1"/>
          <p:nvPr/>
        </p:nvSpPr>
        <p:spPr>
          <a:xfrm>
            <a:off x="3886200" y="2852928"/>
            <a:ext cx="2560320" cy="566928"/>
          </a:xfrm>
          <a:prstGeom prst="rect">
            <a:avLst/>
          </a:prstGeom>
          <a:noFill/>
          <a:ln/>
        </p:spPr>
        <p:txBody>
          <a:bodyPr wrap="square" lIns="0" tIns="0" rIns="0" bIns="0" rtlCol="0" anchor="t"/>
          <a:lstStyle/>
          <a:p>
            <a:pPr indent="0" marL="0">
              <a:buNone/>
            </a:pPr>
            <a:r>
              <a:rPr lang="en-US" sz="1400" dirty="0">
                <a:solidFill>
                  <a:schemeClr val="tx1"/>
                </a:solidFill>
              </a:rPr>
              <a:t>pYIN 65–500 Hz: mean, SD, range, voicing</a:t>
            </a:r>
            <a:endParaRPr lang="en-US" sz="1400" dirty="0"/>
          </a:p>
        </p:txBody>
      </p:sp>
      <p:sp>
        <p:nvSpPr>
          <p:cNvPr id="25" name="Energy (RMS) card"/>
          <p:cNvSpPr/>
          <p:nvPr/>
        </p:nvSpPr>
        <p:spPr>
          <a:xfrm>
            <a:off x="548640" y="3639312"/>
            <a:ext cx="2926080" cy="1097280"/>
          </a:xfrm>
          <a:prstGeom prst="roundRect">
            <a:avLst>
              <a:gd name="adj" fmla="val 10000"/>
            </a:avLst>
          </a:prstGeom>
          <a:solidFill>
            <a:schemeClr val="bg2"/>
          </a:solidFill>
          <a:ln/>
        </p:spPr>
      </p:sp>
      <p:sp>
        <p:nvSpPr>
          <p:cNvPr id="26" name="Energy (RMS) heading"/>
          <p:cNvSpPr txBox="1"/>
          <p:nvPr/>
        </p:nvSpPr>
        <p:spPr>
          <a:xfrm>
            <a:off x="777240" y="3749040"/>
            <a:ext cx="1920240" cy="329184"/>
          </a:xfrm>
          <a:prstGeom prst="rect">
            <a:avLst/>
          </a:prstGeom>
          <a:noFill/>
          <a:ln/>
        </p:spPr>
        <p:txBody>
          <a:bodyPr wrap="square" lIns="0" tIns="0" rIns="0" bIns="0" rtlCol="0" anchor="ctr"/>
          <a:lstStyle/>
          <a:p>
            <a:pPr indent="0" marL="0">
              <a:buNone/>
            </a:pPr>
            <a:r>
              <a:rPr lang="en-US" sz="1600" b="1" dirty="0">
                <a:solidFill>
                  <a:schemeClr val="accent3"/>
                </a:solidFill>
              </a:rPr>
              <a:t>Energy (RMS)</a:t>
            </a:r>
            <a:endParaRPr lang="en-US" sz="1600" dirty="0"/>
          </a:p>
        </p:txBody>
      </p:sp>
      <p:sp>
        <p:nvSpPr>
          <p:cNvPr id="27" name="Energy (RMS) count"/>
          <p:cNvSpPr txBox="1"/>
          <p:nvPr/>
        </p:nvSpPr>
        <p:spPr>
          <a:xfrm>
            <a:off x="2560320" y="3712464"/>
            <a:ext cx="731520" cy="384048"/>
          </a:xfrm>
          <a:prstGeom prst="rect">
            <a:avLst/>
          </a:prstGeom>
          <a:noFill/>
          <a:ln/>
        </p:spPr>
        <p:txBody>
          <a:bodyPr wrap="square" lIns="0" tIns="0" rIns="0" bIns="0" rtlCol="0" anchor="ctr"/>
          <a:lstStyle/>
          <a:p>
            <a:pPr algn="r" indent="0" marL="0">
              <a:buNone/>
            </a:pPr>
            <a:r>
              <a:rPr lang="en-US" sz="2000" b="1" dirty="0">
                <a:solidFill>
                  <a:schemeClr val="accent1"/>
                </a:solidFill>
                <a:latin typeface="Cambria" pitchFamily="34" charset="0"/>
                <a:ea typeface="Cambria" pitchFamily="34" charset="-122"/>
                <a:cs typeface="Cambria" pitchFamily="34" charset="-120"/>
              </a:rPr>
              <a:t>4</a:t>
            </a:r>
            <a:endParaRPr lang="en-US" sz="2000" dirty="0"/>
          </a:p>
        </p:txBody>
      </p:sp>
      <p:sp>
        <p:nvSpPr>
          <p:cNvPr id="28" name="Energy (RMS) text"/>
          <p:cNvSpPr txBox="1"/>
          <p:nvPr/>
        </p:nvSpPr>
        <p:spPr>
          <a:xfrm>
            <a:off x="777240" y="4114800"/>
            <a:ext cx="2560320" cy="566928"/>
          </a:xfrm>
          <a:prstGeom prst="rect">
            <a:avLst/>
          </a:prstGeom>
          <a:noFill/>
          <a:ln/>
        </p:spPr>
        <p:txBody>
          <a:bodyPr wrap="square" lIns="0" tIns="0" rIns="0" bIns="0" rtlCol="0" anchor="t"/>
          <a:lstStyle/>
          <a:p>
            <a:pPr indent="0" marL="0">
              <a:buNone/>
            </a:pPr>
            <a:r>
              <a:rPr lang="en-US" sz="1400" dirty="0">
                <a:solidFill>
                  <a:schemeClr val="tx1"/>
                </a:solidFill>
              </a:rPr>
              <a:t>Mean, SD, max, peak position</a:t>
            </a:r>
            <a:endParaRPr lang="en-US" sz="1400" dirty="0"/>
          </a:p>
        </p:txBody>
      </p:sp>
      <p:sp>
        <p:nvSpPr>
          <p:cNvPr id="29" name="ZCR card"/>
          <p:cNvSpPr/>
          <p:nvPr/>
        </p:nvSpPr>
        <p:spPr>
          <a:xfrm>
            <a:off x="3657600" y="3639312"/>
            <a:ext cx="2926080" cy="1097280"/>
          </a:xfrm>
          <a:prstGeom prst="roundRect">
            <a:avLst>
              <a:gd name="adj" fmla="val 10000"/>
            </a:avLst>
          </a:prstGeom>
          <a:solidFill>
            <a:schemeClr val="bg2"/>
          </a:solidFill>
          <a:ln/>
        </p:spPr>
      </p:sp>
      <p:sp>
        <p:nvSpPr>
          <p:cNvPr id="30" name="ZCR heading"/>
          <p:cNvSpPr txBox="1"/>
          <p:nvPr/>
        </p:nvSpPr>
        <p:spPr>
          <a:xfrm>
            <a:off x="3886200" y="3749040"/>
            <a:ext cx="1920240" cy="329184"/>
          </a:xfrm>
          <a:prstGeom prst="rect">
            <a:avLst/>
          </a:prstGeom>
          <a:noFill/>
          <a:ln/>
        </p:spPr>
        <p:txBody>
          <a:bodyPr wrap="square" lIns="0" tIns="0" rIns="0" bIns="0" rtlCol="0" anchor="ctr"/>
          <a:lstStyle/>
          <a:p>
            <a:pPr indent="0" marL="0">
              <a:buNone/>
            </a:pPr>
            <a:r>
              <a:rPr lang="en-US" sz="1600" b="1" dirty="0">
                <a:solidFill>
                  <a:schemeClr val="accent3"/>
                </a:solidFill>
              </a:rPr>
              <a:t>ZCR</a:t>
            </a:r>
            <a:endParaRPr lang="en-US" sz="1600" dirty="0"/>
          </a:p>
        </p:txBody>
      </p:sp>
      <p:sp>
        <p:nvSpPr>
          <p:cNvPr id="31" name="ZCR count"/>
          <p:cNvSpPr txBox="1"/>
          <p:nvPr/>
        </p:nvSpPr>
        <p:spPr>
          <a:xfrm>
            <a:off x="5669280" y="3712464"/>
            <a:ext cx="731520" cy="384048"/>
          </a:xfrm>
          <a:prstGeom prst="rect">
            <a:avLst/>
          </a:prstGeom>
          <a:noFill/>
          <a:ln/>
        </p:spPr>
        <p:txBody>
          <a:bodyPr wrap="square" lIns="0" tIns="0" rIns="0" bIns="0" rtlCol="0" anchor="ctr"/>
          <a:lstStyle/>
          <a:p>
            <a:pPr algn="r" indent="0" marL="0">
              <a:buNone/>
            </a:pPr>
            <a:r>
              <a:rPr lang="en-US" sz="2000" b="1" dirty="0">
                <a:solidFill>
                  <a:schemeClr val="accent1"/>
                </a:solidFill>
                <a:latin typeface="Cambria" pitchFamily="34" charset="0"/>
                <a:ea typeface="Cambria" pitchFamily="34" charset="-122"/>
                <a:cs typeface="Cambria" pitchFamily="34" charset="-120"/>
              </a:rPr>
              <a:t>2</a:t>
            </a:r>
            <a:endParaRPr lang="en-US" sz="2000" dirty="0"/>
          </a:p>
        </p:txBody>
      </p:sp>
      <p:sp>
        <p:nvSpPr>
          <p:cNvPr id="32" name="ZCR text"/>
          <p:cNvSpPr txBox="1"/>
          <p:nvPr/>
        </p:nvSpPr>
        <p:spPr>
          <a:xfrm>
            <a:off x="3886200" y="4114800"/>
            <a:ext cx="2560320" cy="566928"/>
          </a:xfrm>
          <a:prstGeom prst="rect">
            <a:avLst/>
          </a:prstGeom>
          <a:noFill/>
          <a:ln/>
        </p:spPr>
        <p:txBody>
          <a:bodyPr wrap="square" lIns="0" tIns="0" rIns="0" bIns="0" rtlCol="0" anchor="t"/>
          <a:lstStyle/>
          <a:p>
            <a:pPr indent="0" marL="0">
              <a:buNone/>
            </a:pPr>
            <a:r>
              <a:rPr lang="en-US" sz="1400" dirty="0">
                <a:solidFill>
                  <a:schemeClr val="tx1"/>
                </a:solidFill>
              </a:rPr>
              <a:t>Zero-crossing rate: mean, SD</a:t>
            </a:r>
            <a:endParaRPr lang="en-US" sz="1400" dirty="0"/>
          </a:p>
        </p:txBody>
      </p:sp>
      <p:sp>
        <p:nvSpPr>
          <p:cNvPr id="33" name="Spectral + timing card"/>
          <p:cNvSpPr/>
          <p:nvPr/>
        </p:nvSpPr>
        <p:spPr>
          <a:xfrm>
            <a:off x="548640" y="4901184"/>
            <a:ext cx="2926080" cy="1097280"/>
          </a:xfrm>
          <a:prstGeom prst="roundRect">
            <a:avLst>
              <a:gd name="adj" fmla="val 10000"/>
            </a:avLst>
          </a:prstGeom>
          <a:solidFill>
            <a:schemeClr val="bg2"/>
          </a:solidFill>
          <a:ln/>
        </p:spPr>
      </p:sp>
      <p:sp>
        <p:nvSpPr>
          <p:cNvPr id="34" name="Spectral + timing heading"/>
          <p:cNvSpPr txBox="1"/>
          <p:nvPr/>
        </p:nvSpPr>
        <p:spPr>
          <a:xfrm>
            <a:off x="777240" y="5010912"/>
            <a:ext cx="1920240" cy="329184"/>
          </a:xfrm>
          <a:prstGeom prst="rect">
            <a:avLst/>
          </a:prstGeom>
          <a:noFill/>
          <a:ln/>
        </p:spPr>
        <p:txBody>
          <a:bodyPr wrap="square" lIns="0" tIns="0" rIns="0" bIns="0" rtlCol="0" anchor="ctr"/>
          <a:lstStyle/>
          <a:p>
            <a:pPr indent="0" marL="0">
              <a:buNone/>
            </a:pPr>
            <a:r>
              <a:rPr lang="en-US" sz="1600" b="1" dirty="0">
                <a:solidFill>
                  <a:schemeClr val="accent3"/>
                </a:solidFill>
              </a:rPr>
              <a:t>Spectral + timing</a:t>
            </a:r>
            <a:endParaRPr lang="en-US" sz="1600" dirty="0"/>
          </a:p>
        </p:txBody>
      </p:sp>
      <p:sp>
        <p:nvSpPr>
          <p:cNvPr id="35" name="Spectral + timing count"/>
          <p:cNvSpPr txBox="1"/>
          <p:nvPr/>
        </p:nvSpPr>
        <p:spPr>
          <a:xfrm>
            <a:off x="2560320" y="4974336"/>
            <a:ext cx="731520" cy="384048"/>
          </a:xfrm>
          <a:prstGeom prst="rect">
            <a:avLst/>
          </a:prstGeom>
          <a:noFill/>
          <a:ln/>
        </p:spPr>
        <p:txBody>
          <a:bodyPr wrap="square" lIns="0" tIns="0" rIns="0" bIns="0" rtlCol="0" anchor="ctr"/>
          <a:lstStyle/>
          <a:p>
            <a:pPr algn="r" indent="0" marL="0">
              <a:buNone/>
            </a:pPr>
            <a:r>
              <a:rPr lang="en-US" sz="2000" b="1" dirty="0">
                <a:solidFill>
                  <a:schemeClr val="accent1"/>
                </a:solidFill>
                <a:latin typeface="Cambria" pitchFamily="34" charset="0"/>
                <a:ea typeface="Cambria" pitchFamily="34" charset="-122"/>
                <a:cs typeface="Cambria" pitchFamily="34" charset="-120"/>
              </a:rPr>
              <a:t>5</a:t>
            </a:r>
            <a:endParaRPr lang="en-US" sz="2000" dirty="0"/>
          </a:p>
        </p:txBody>
      </p:sp>
      <p:sp>
        <p:nvSpPr>
          <p:cNvPr id="36" name="Spectral + timing text"/>
          <p:cNvSpPr txBox="1"/>
          <p:nvPr/>
        </p:nvSpPr>
        <p:spPr>
          <a:xfrm>
            <a:off x="777240" y="5376672"/>
            <a:ext cx="2560320" cy="566928"/>
          </a:xfrm>
          <a:prstGeom prst="rect">
            <a:avLst/>
          </a:prstGeom>
          <a:noFill/>
          <a:ln/>
        </p:spPr>
        <p:txBody>
          <a:bodyPr wrap="square" lIns="0" tIns="0" rIns="0" bIns="0" rtlCol="0" anchor="t"/>
          <a:lstStyle/>
          <a:p>
            <a:pPr indent="0" marL="0">
              <a:buNone/>
            </a:pPr>
            <a:r>
              <a:rPr lang="en-US" sz="1400" dirty="0">
                <a:solidFill>
                  <a:schemeClr val="tx1"/>
                </a:solidFill>
              </a:rPr>
              <a:t>Centroid; duration, segments, active ratio</a:t>
            </a:r>
            <a:endParaRPr lang="en-US" sz="1400" dirty="0"/>
          </a:p>
        </p:txBody>
      </p:sp>
      <p:sp>
        <p:nvSpPr>
          <p:cNvPr id="37" name="Spectrogram CNN card"/>
          <p:cNvSpPr/>
          <p:nvPr/>
        </p:nvSpPr>
        <p:spPr>
          <a:xfrm>
            <a:off x="3657600" y="4901184"/>
            <a:ext cx="2926080" cy="1097280"/>
          </a:xfrm>
          <a:prstGeom prst="roundRect">
            <a:avLst>
              <a:gd name="adj" fmla="val 10000"/>
            </a:avLst>
          </a:prstGeom>
          <a:solidFill>
            <a:schemeClr val="bg2"/>
          </a:solidFill>
          <a:ln/>
        </p:spPr>
      </p:sp>
      <p:sp>
        <p:nvSpPr>
          <p:cNvPr id="38" name="Spectrogram CNN heading"/>
          <p:cNvSpPr txBox="1"/>
          <p:nvPr/>
        </p:nvSpPr>
        <p:spPr>
          <a:xfrm>
            <a:off x="3886200" y="5010912"/>
            <a:ext cx="1920240" cy="329184"/>
          </a:xfrm>
          <a:prstGeom prst="rect">
            <a:avLst/>
          </a:prstGeom>
          <a:noFill/>
          <a:ln/>
        </p:spPr>
        <p:txBody>
          <a:bodyPr wrap="square" lIns="0" tIns="0" rIns="0" bIns="0" rtlCol="0" anchor="ctr"/>
          <a:lstStyle/>
          <a:p>
            <a:pPr indent="0" marL="0">
              <a:buNone/>
            </a:pPr>
            <a:r>
              <a:rPr lang="en-US" sz="1600" b="1" dirty="0">
                <a:solidFill>
                  <a:schemeClr val="accent3"/>
                </a:solidFill>
              </a:rPr>
              <a:t>Spectrogram CNN</a:t>
            </a:r>
            <a:endParaRPr lang="en-US" sz="1600" dirty="0"/>
          </a:p>
        </p:txBody>
      </p:sp>
      <p:sp>
        <p:nvSpPr>
          <p:cNvPr id="39" name="Spectrogram CNN count"/>
          <p:cNvSpPr txBox="1"/>
          <p:nvPr/>
        </p:nvSpPr>
        <p:spPr>
          <a:xfrm>
            <a:off x="5669280" y="4974336"/>
            <a:ext cx="731520" cy="384048"/>
          </a:xfrm>
          <a:prstGeom prst="rect">
            <a:avLst/>
          </a:prstGeom>
          <a:noFill/>
          <a:ln/>
        </p:spPr>
        <p:txBody>
          <a:bodyPr wrap="square" lIns="0" tIns="0" rIns="0" bIns="0" rtlCol="0" anchor="ctr"/>
          <a:lstStyle/>
          <a:p>
            <a:pPr algn="r" indent="0" marL="0">
              <a:buNone/>
            </a:pPr>
            <a:r>
              <a:rPr lang="en-US" sz="2000" b="1" dirty="0">
                <a:solidFill>
                  <a:schemeClr val="accent2"/>
                </a:solidFill>
                <a:latin typeface="Cambria" pitchFamily="34" charset="0"/>
                <a:ea typeface="Cambria" pitchFamily="34" charset="-122"/>
                <a:cs typeface="Cambria" pitchFamily="34" charset="-120"/>
              </a:rPr>
              <a:t>512</a:t>
            </a:r>
            <a:endParaRPr lang="en-US" sz="2000" dirty="0"/>
          </a:p>
        </p:txBody>
      </p:sp>
      <p:sp>
        <p:nvSpPr>
          <p:cNvPr id="40" name="Spectrogram CNN text"/>
          <p:cNvSpPr txBox="1"/>
          <p:nvPr/>
        </p:nvSpPr>
        <p:spPr>
          <a:xfrm>
            <a:off x="3886200" y="5376672"/>
            <a:ext cx="2560320" cy="566928"/>
          </a:xfrm>
          <a:prstGeom prst="rect">
            <a:avLst/>
          </a:prstGeom>
          <a:noFill/>
          <a:ln/>
        </p:spPr>
        <p:txBody>
          <a:bodyPr wrap="square" lIns="0" tIns="0" rIns="0" bIns="0" rtlCol="0" anchor="t"/>
          <a:lstStyle/>
          <a:p>
            <a:pPr indent="0" marL="0">
              <a:buNone/>
            </a:pPr>
            <a:r>
              <a:rPr lang="en-US" sz="1400" dirty="0">
                <a:solidFill>
                  <a:schemeClr val="tx1"/>
                </a:solidFill>
              </a:rPr>
              <a:t>128-band mel image → ResNet18</a:t>
            </a:r>
            <a:endParaRPr lang="en-US" sz="1400" dirty="0"/>
          </a:p>
        </p:txBody>
      </p:sp>
      <p:pic>
        <p:nvPicPr>
          <p:cNvPr id="41" name="Example recording figure" descr="Waveform and spectrogram of Salamat, Y1-014">    </p:cNvPr>
          <p:cNvPicPr>
            <a:picLocks noChangeAspect="1"/>
          </p:cNvPicPr>
          <p:nvPr/>
        </p:nvPicPr>
        <p:blipFill>
          <a:blip r:embed="rId5"/>
          <a:stretch>
            <a:fillRect/>
          </a:stretch>
        </p:blipFill>
        <p:spPr>
          <a:xfrm>
            <a:off x="6903720" y="2377440"/>
            <a:ext cx="4736592" cy="2553005"/>
          </a:xfrm>
          <a:prstGeom prst="rect">
            <a:avLst/>
          </a:prstGeom>
        </p:spPr>
      </p:pic>
      <p:sp>
        <p:nvSpPr>
          <p:cNvPr id="42" name="Caption"/>
          <p:cNvSpPr txBox="1"/>
          <p:nvPr/>
        </p:nvSpPr>
        <p:spPr>
          <a:xfrm>
            <a:off x="6903720" y="4956048"/>
            <a:ext cx="4736592" cy="274320"/>
          </a:xfrm>
          <a:prstGeom prst="rect">
            <a:avLst/>
          </a:prstGeom>
          <a:noFill/>
          <a:ln/>
        </p:spPr>
        <p:txBody>
          <a:bodyPr wrap="square" lIns="0" tIns="0" rIns="0" bIns="0" rtlCol="0" anchor="ctr"/>
          <a:lstStyle/>
          <a:p>
            <a:pPr indent="0" marL="0">
              <a:buNone/>
            </a:pPr>
            <a:r>
              <a:rPr lang="en-US" sz="1100" i="1" dirty="0">
                <a:solidFill>
                  <a:schemeClr val="tx2"/>
                </a:solidFill>
              </a:rPr>
              <a:t>Y1-014 “Salamat”: waveform with RMS (top); spectrogram with pitch (bottom)</a:t>
            </a:r>
            <a:endParaRPr lang="en-US" sz="1100" dirty="0"/>
          </a:p>
        </p:txBody>
      </p:sp>
      <p:sp>
        <p:nvSpPr>
          <p:cNvPr id="43" name="Facial note card"/>
          <p:cNvSpPr/>
          <p:nvPr/>
        </p:nvSpPr>
        <p:spPr>
          <a:xfrm>
            <a:off x="6903720" y="5349240"/>
            <a:ext cx="4736592" cy="777240"/>
          </a:xfrm>
          <a:prstGeom prst="roundRect">
            <a:avLst>
              <a:gd name="adj" fmla="val 14118"/>
            </a:avLst>
          </a:prstGeom>
          <a:solidFill>
            <a:schemeClr val="bg2"/>
          </a:solidFill>
          <a:ln/>
        </p:spPr>
      </p:sp>
      <p:sp>
        <p:nvSpPr>
          <p:cNvPr id="44" name="Facial note circle"/>
          <p:cNvSpPr/>
          <p:nvPr/>
        </p:nvSpPr>
        <p:spPr>
          <a:xfrm>
            <a:off x="7086600" y="5468112"/>
            <a:ext cx="530352" cy="530352"/>
          </a:xfrm>
          <a:prstGeom prst="ellipse">
            <a:avLst/>
          </a:prstGeom>
          <a:solidFill>
            <a:schemeClr val="accent5"/>
          </a:solidFill>
          <a:ln/>
        </p:spPr>
      </p:sp>
      <p:pic>
        <p:nvPicPr>
          <p:cNvPr id="45" name="Facial note icon" descr="Facial note">    </p:cNvPr>
          <p:cNvPicPr>
            <a:picLocks noChangeAspect="1"/>
          </p:cNvPicPr>
          <p:nvPr/>
        </p:nvPicPr>
        <p:blipFill>
          <a:blip r:embed="rId6"/>
          <a:stretch>
            <a:fillRect/>
          </a:stretch>
        </p:blipFill>
        <p:spPr>
          <a:xfrm>
            <a:off x="7219188" y="5600700"/>
            <a:ext cx="265176" cy="265176"/>
          </a:xfrm>
          <a:prstGeom prst="rect">
            <a:avLst/>
          </a:prstGeom>
        </p:spPr>
      </p:pic>
      <p:sp>
        <p:nvSpPr>
          <p:cNvPr id="46" name="Facial note text"/>
          <p:cNvSpPr txBox="1"/>
          <p:nvPr/>
        </p:nvSpPr>
        <p:spPr>
          <a:xfrm>
            <a:off x="7772400" y="5349240"/>
            <a:ext cx="3749040" cy="777240"/>
          </a:xfrm>
          <a:prstGeom prst="rect">
            <a:avLst/>
          </a:prstGeom>
          <a:noFill/>
          <a:ln/>
        </p:spPr>
        <p:txBody>
          <a:bodyPr wrap="square" lIns="0" tIns="0" rIns="0" bIns="0" rtlCol="0" anchor="ctr"/>
          <a:lstStyle/>
          <a:p>
            <a:pPr indent="0" marL="0">
              <a:buNone/>
            </a:pPr>
            <a:r>
              <a:rPr lang="en-US" sz="1500" b="1" dirty="0">
                <a:solidFill>
                  <a:schemeClr val="tx1"/>
                </a:solidFill>
              </a:rPr>
              <a:t>Facial processing: </a:t>
            </a:r>
            <a:pPr indent="0" marL="0">
              <a:buNone/>
            </a:pPr>
            <a:r>
              <a:rPr lang="en-US" sz="1500" dirty="0">
                <a:solidFill>
                  <a:schemeClr val="tx1"/>
                </a:solidFill>
              </a:rPr>
              <a:t>not applied (audio-only scope)</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1"/>
                </a:solidFill>
              </a:rPr>
              <a:t>5. Machine Learning Implementation</a:t>
            </a:r>
            <a:endParaRPr lang="en-US" sz="3400" dirty="0"/>
          </a:p>
        </p:txBody>
      </p:sp>
      <p:sp>
        <p:nvSpPr>
          <p:cNvPr id="3" name="Algorithms label"/>
          <p:cNvSpPr txBox="1"/>
          <p:nvPr/>
        </p:nvSpPr>
        <p:spPr>
          <a:xfrm>
            <a:off x="548640" y="1325880"/>
            <a:ext cx="4572000" cy="347472"/>
          </a:xfrm>
          <a:prstGeom prst="rect">
            <a:avLst/>
          </a:prstGeom>
          <a:noFill/>
          <a:ln/>
        </p:spPr>
        <p:txBody>
          <a:bodyPr wrap="square" lIns="0" tIns="0" rIns="0" bIns="0" rtlCol="0" anchor="ctr"/>
          <a:lstStyle/>
          <a:p>
            <a:pPr indent="0" marL="0">
              <a:buNone/>
            </a:pPr>
            <a:r>
              <a:rPr lang="en-US" sz="1600" b="1" dirty="0">
                <a:solidFill>
                  <a:schemeClr val="accent3"/>
                </a:solidFill>
              </a:rPr>
              <a:t>Algorithms</a:t>
            </a:r>
            <a:endParaRPr lang="en-US" sz="1600" dirty="0"/>
          </a:p>
        </p:txBody>
      </p:sp>
      <p:sp>
        <p:nvSpPr>
          <p:cNvPr id="4" name="Logistic Regression chip"/>
          <p:cNvSpPr/>
          <p:nvPr/>
        </p:nvSpPr>
        <p:spPr>
          <a:xfrm>
            <a:off x="548640" y="1737360"/>
            <a:ext cx="1700784" cy="384048"/>
          </a:xfrm>
          <a:prstGeom prst="roundRect">
            <a:avLst>
              <a:gd name="adj" fmla="val 47619"/>
            </a:avLst>
          </a:prstGeom>
          <a:solidFill>
            <a:schemeClr val="accent1"/>
          </a:solidFill>
          <a:ln/>
        </p:spPr>
      </p:sp>
      <p:sp>
        <p:nvSpPr>
          <p:cNvPr id="5" name="Logistic Regression chip text"/>
          <p:cNvSpPr txBox="1"/>
          <p:nvPr/>
        </p:nvSpPr>
        <p:spPr>
          <a:xfrm>
            <a:off x="548640" y="1737360"/>
            <a:ext cx="1700784" cy="384048"/>
          </a:xfrm>
          <a:prstGeom prst="rect">
            <a:avLst/>
          </a:prstGeom>
          <a:noFill/>
          <a:ln/>
        </p:spPr>
        <p:txBody>
          <a:bodyPr wrap="square" lIns="0" tIns="0" rIns="0" bIns="0" rtlCol="0" anchor="ctr"/>
          <a:lstStyle/>
          <a:p>
            <a:pPr algn="ctr" indent="0" marL="0">
              <a:buNone/>
            </a:pPr>
            <a:r>
              <a:rPr lang="en-US" sz="1400" b="1" dirty="0">
                <a:solidFill>
                  <a:schemeClr val="bg1"/>
                </a:solidFill>
              </a:rPr>
              <a:t>Logistic Regression</a:t>
            </a:r>
            <a:endParaRPr lang="en-US" sz="1400" dirty="0"/>
          </a:p>
        </p:txBody>
      </p:sp>
      <p:sp>
        <p:nvSpPr>
          <p:cNvPr id="6" name="SVM (RBF kernel) chip"/>
          <p:cNvSpPr/>
          <p:nvPr/>
        </p:nvSpPr>
        <p:spPr>
          <a:xfrm>
            <a:off x="2359152" y="1737360"/>
            <a:ext cx="1700784" cy="384048"/>
          </a:xfrm>
          <a:prstGeom prst="roundRect">
            <a:avLst>
              <a:gd name="adj" fmla="val 47619"/>
            </a:avLst>
          </a:prstGeom>
          <a:solidFill>
            <a:schemeClr val="accent1"/>
          </a:solidFill>
          <a:ln/>
        </p:spPr>
      </p:sp>
      <p:sp>
        <p:nvSpPr>
          <p:cNvPr id="7" name="SVM (RBF kernel) chip text"/>
          <p:cNvSpPr txBox="1"/>
          <p:nvPr/>
        </p:nvSpPr>
        <p:spPr>
          <a:xfrm>
            <a:off x="2359152" y="1737360"/>
            <a:ext cx="1700784" cy="384048"/>
          </a:xfrm>
          <a:prstGeom prst="rect">
            <a:avLst/>
          </a:prstGeom>
          <a:noFill/>
          <a:ln/>
        </p:spPr>
        <p:txBody>
          <a:bodyPr wrap="square" lIns="0" tIns="0" rIns="0" bIns="0" rtlCol="0" anchor="ctr"/>
          <a:lstStyle/>
          <a:p>
            <a:pPr algn="ctr" indent="0" marL="0">
              <a:buNone/>
            </a:pPr>
            <a:r>
              <a:rPr lang="en-US" sz="1400" b="1" dirty="0">
                <a:solidFill>
                  <a:schemeClr val="bg1"/>
                </a:solidFill>
              </a:rPr>
              <a:t>SVM (RBF kernel)</a:t>
            </a:r>
            <a:endParaRPr lang="en-US" sz="1400" dirty="0"/>
          </a:p>
        </p:txBody>
      </p:sp>
      <p:sp>
        <p:nvSpPr>
          <p:cNvPr id="8" name="Random Forest chip"/>
          <p:cNvSpPr/>
          <p:nvPr/>
        </p:nvSpPr>
        <p:spPr>
          <a:xfrm>
            <a:off x="4169664" y="1737360"/>
            <a:ext cx="1700784" cy="384048"/>
          </a:xfrm>
          <a:prstGeom prst="roundRect">
            <a:avLst>
              <a:gd name="adj" fmla="val 47619"/>
            </a:avLst>
          </a:prstGeom>
          <a:solidFill>
            <a:schemeClr val="accent1"/>
          </a:solidFill>
          <a:ln/>
        </p:spPr>
      </p:sp>
      <p:sp>
        <p:nvSpPr>
          <p:cNvPr id="9" name="Random Forest chip text"/>
          <p:cNvSpPr txBox="1"/>
          <p:nvPr/>
        </p:nvSpPr>
        <p:spPr>
          <a:xfrm>
            <a:off x="4169664" y="1737360"/>
            <a:ext cx="1700784" cy="384048"/>
          </a:xfrm>
          <a:prstGeom prst="rect">
            <a:avLst/>
          </a:prstGeom>
          <a:noFill/>
          <a:ln/>
        </p:spPr>
        <p:txBody>
          <a:bodyPr wrap="square" lIns="0" tIns="0" rIns="0" bIns="0" rtlCol="0" anchor="ctr"/>
          <a:lstStyle/>
          <a:p>
            <a:pPr algn="ctr" indent="0" marL="0">
              <a:buNone/>
            </a:pPr>
            <a:r>
              <a:rPr lang="en-US" sz="1400" b="1" dirty="0">
                <a:solidFill>
                  <a:schemeClr val="bg1"/>
                </a:solidFill>
              </a:rPr>
              <a:t>Random Forest</a:t>
            </a:r>
            <a:endParaRPr lang="en-US" sz="1400" dirty="0"/>
          </a:p>
        </p:txBody>
      </p:sp>
      <p:sp>
        <p:nvSpPr>
          <p:cNvPr id="10" name="Majority baseline chip"/>
          <p:cNvSpPr/>
          <p:nvPr/>
        </p:nvSpPr>
        <p:spPr>
          <a:xfrm>
            <a:off x="5980176" y="1737360"/>
            <a:ext cx="1700784" cy="384048"/>
          </a:xfrm>
          <a:prstGeom prst="roundRect">
            <a:avLst>
              <a:gd name="adj" fmla="val 47619"/>
            </a:avLst>
          </a:prstGeom>
          <a:solidFill>
            <a:schemeClr val="accent5"/>
          </a:solidFill>
          <a:ln/>
        </p:spPr>
      </p:sp>
      <p:sp>
        <p:nvSpPr>
          <p:cNvPr id="11" name="Majority baseline chip text"/>
          <p:cNvSpPr txBox="1"/>
          <p:nvPr/>
        </p:nvSpPr>
        <p:spPr>
          <a:xfrm>
            <a:off x="5980176" y="1737360"/>
            <a:ext cx="1700784" cy="384048"/>
          </a:xfrm>
          <a:prstGeom prst="rect">
            <a:avLst/>
          </a:prstGeom>
          <a:noFill/>
          <a:ln/>
        </p:spPr>
        <p:txBody>
          <a:bodyPr wrap="square" lIns="0" tIns="0" rIns="0" bIns="0" rtlCol="0" anchor="ctr"/>
          <a:lstStyle/>
          <a:p>
            <a:pPr algn="ctr" indent="0" marL="0">
              <a:buNone/>
            </a:pPr>
            <a:r>
              <a:rPr lang="en-US" sz="1400" b="1" dirty="0">
                <a:solidFill>
                  <a:schemeClr val="bg1"/>
                </a:solidFill>
              </a:rPr>
              <a:t>Majority baseline</a:t>
            </a:r>
            <a:endParaRPr lang="en-US" sz="1400" dirty="0"/>
          </a:p>
        </p:txBody>
      </p:sp>
      <p:sp>
        <p:nvSpPr>
          <p:cNvPr id="12" name="Config note"/>
          <p:cNvSpPr txBox="1"/>
          <p:nvPr/>
        </p:nvSpPr>
        <p:spPr>
          <a:xfrm>
            <a:off x="548640" y="2240280"/>
            <a:ext cx="7132320" cy="320040"/>
          </a:xfrm>
          <a:prstGeom prst="rect">
            <a:avLst/>
          </a:prstGeom>
          <a:noFill/>
          <a:ln/>
        </p:spPr>
        <p:txBody>
          <a:bodyPr wrap="square" lIns="0" tIns="0" rIns="0" bIns="0" rtlCol="0" anchor="ctr"/>
          <a:lstStyle/>
          <a:p>
            <a:pPr indent="0" marL="0">
              <a:buNone/>
            </a:pPr>
            <a:r>
              <a:rPr lang="en-US" sz="1400" i="1" dirty="0">
                <a:solidFill>
                  <a:schemeClr val="tx2"/>
                </a:solidFill>
              </a:rPr>
              <a:t>2 feature sets (handcrafted, spectrogram CNN) × 3 models = 6 configurations</a:t>
            </a:r>
            <a:endParaRPr lang="en-US" sz="1400" dirty="0"/>
          </a:p>
        </p:txBody>
      </p:sp>
      <p:sp>
        <p:nvSpPr>
          <p:cNvPr id="13" name="Training and testing: leave-one-participant-out label"/>
          <p:cNvSpPr txBox="1"/>
          <p:nvPr/>
        </p:nvSpPr>
        <p:spPr>
          <a:xfrm>
            <a:off x="548640" y="2743200"/>
            <a:ext cx="7132320" cy="347472"/>
          </a:xfrm>
          <a:prstGeom prst="rect">
            <a:avLst/>
          </a:prstGeom>
          <a:noFill/>
          <a:ln/>
        </p:spPr>
        <p:txBody>
          <a:bodyPr wrap="square" lIns="0" tIns="0" rIns="0" bIns="0" rtlCol="0" anchor="ctr"/>
          <a:lstStyle/>
          <a:p>
            <a:pPr indent="0" marL="0">
              <a:buNone/>
            </a:pPr>
            <a:r>
              <a:rPr lang="en-US" sz="1600" b="1" dirty="0">
                <a:solidFill>
                  <a:schemeClr val="accent3"/>
                </a:solidFill>
              </a:rPr>
              <a:t>Training and testing: leave-one-participant-out</a:t>
            </a:r>
            <a:endParaRPr lang="en-US" sz="1600" dirty="0"/>
          </a:p>
        </p:txBody>
      </p:sp>
      <p:sp>
        <p:nvSpPr>
          <p:cNvPr id="14" name="LOPO 1"/>
          <p:cNvSpPr/>
          <p:nvPr/>
        </p:nvSpPr>
        <p:spPr>
          <a:xfrm>
            <a:off x="548640" y="3200400"/>
            <a:ext cx="1600200" cy="1143000"/>
          </a:xfrm>
          <a:prstGeom prst="roundRect">
            <a:avLst>
              <a:gd name="adj" fmla="val 8000"/>
            </a:avLst>
          </a:prstGeom>
          <a:solidFill>
            <a:schemeClr val="accent3"/>
          </a:solidFill>
          <a:ln/>
        </p:spPr>
      </p:sp>
      <p:sp>
        <p:nvSpPr>
          <p:cNvPr id="15" name="LOPO 1 heading"/>
          <p:cNvSpPr txBox="1"/>
          <p:nvPr/>
        </p:nvSpPr>
        <p:spPr>
          <a:xfrm>
            <a:off x="640080" y="3291840"/>
            <a:ext cx="1417320" cy="365760"/>
          </a:xfrm>
          <a:prstGeom prst="rect">
            <a:avLst/>
          </a:prstGeom>
          <a:noFill/>
          <a:ln/>
        </p:spPr>
        <p:txBody>
          <a:bodyPr wrap="square" lIns="0" tIns="0" rIns="0" bIns="0" rtlCol="0" anchor="ctr"/>
          <a:lstStyle/>
          <a:p>
            <a:pPr algn="ctr" indent="0" marL="0">
              <a:buNone/>
            </a:pPr>
            <a:r>
              <a:rPr lang="en-US" sz="1500" b="1" dirty="0">
                <a:solidFill>
                  <a:schemeClr val="bg1"/>
                </a:solidFill>
              </a:rPr>
              <a:t>Train</a:t>
            </a:r>
            <a:endParaRPr lang="en-US" sz="1500" dirty="0"/>
          </a:p>
        </p:txBody>
      </p:sp>
      <p:sp>
        <p:nvSpPr>
          <p:cNvPr id="16" name="LOPO 1 text"/>
          <p:cNvSpPr txBox="1"/>
          <p:nvPr/>
        </p:nvSpPr>
        <p:spPr>
          <a:xfrm>
            <a:off x="640080" y="3675888"/>
            <a:ext cx="1417320" cy="548640"/>
          </a:xfrm>
          <a:prstGeom prst="rect">
            <a:avLst/>
          </a:prstGeom>
          <a:noFill/>
          <a:ln/>
        </p:spPr>
        <p:txBody>
          <a:bodyPr wrap="square" lIns="0" tIns="0" rIns="0" bIns="0" rtlCol="0" anchor="t"/>
          <a:lstStyle/>
          <a:p>
            <a:pPr algn="ctr" indent="0" marL="0">
              <a:buNone/>
            </a:pPr>
            <a:r>
              <a:rPr lang="en-US" sz="1400" dirty="0">
                <a:solidFill>
                  <a:schemeClr val="bg1"/>
                </a:solidFill>
              </a:rPr>
              <a:t>29 participants</a:t>
            </a:r>
            <a:endParaRPr lang="en-US" sz="1400" dirty="0"/>
          </a:p>
        </p:txBody>
      </p:sp>
      <p:pic>
        <p:nvPicPr>
          <p:cNvPr id="17" name="LOPO arrow 1" descr="next">    </p:cNvPr>
          <p:cNvPicPr>
            <a:picLocks noChangeAspect="1"/>
          </p:cNvPicPr>
          <p:nvPr/>
        </p:nvPicPr>
        <p:blipFill>
          <a:blip r:embed="rId1"/>
          <a:stretch>
            <a:fillRect/>
          </a:stretch>
        </p:blipFill>
        <p:spPr>
          <a:xfrm>
            <a:off x="2185416" y="3657600"/>
            <a:ext cx="146304" cy="201168"/>
          </a:xfrm>
          <a:prstGeom prst="rect">
            <a:avLst/>
          </a:prstGeom>
        </p:spPr>
      </p:pic>
      <p:sp>
        <p:nvSpPr>
          <p:cNvPr id="18" name="LOPO 2"/>
          <p:cNvSpPr/>
          <p:nvPr/>
        </p:nvSpPr>
        <p:spPr>
          <a:xfrm>
            <a:off x="2359152" y="3200400"/>
            <a:ext cx="1600200" cy="1143000"/>
          </a:xfrm>
          <a:prstGeom prst="roundRect">
            <a:avLst>
              <a:gd name="adj" fmla="val 8000"/>
            </a:avLst>
          </a:prstGeom>
          <a:solidFill>
            <a:schemeClr val="accent3"/>
          </a:solidFill>
          <a:ln/>
        </p:spPr>
      </p:sp>
      <p:sp>
        <p:nvSpPr>
          <p:cNvPr id="19" name="LOPO 2 heading"/>
          <p:cNvSpPr txBox="1"/>
          <p:nvPr/>
        </p:nvSpPr>
        <p:spPr>
          <a:xfrm>
            <a:off x="2450592" y="3291840"/>
            <a:ext cx="1417320" cy="365760"/>
          </a:xfrm>
          <a:prstGeom prst="rect">
            <a:avLst/>
          </a:prstGeom>
          <a:noFill/>
          <a:ln/>
        </p:spPr>
        <p:txBody>
          <a:bodyPr wrap="square" lIns="0" tIns="0" rIns="0" bIns="0" rtlCol="0" anchor="ctr"/>
          <a:lstStyle/>
          <a:p>
            <a:pPr algn="ctr" indent="0" marL="0">
              <a:buNone/>
            </a:pPr>
            <a:r>
              <a:rPr lang="en-US" sz="1500" b="1" dirty="0">
                <a:solidFill>
                  <a:schemeClr val="bg1"/>
                </a:solidFill>
              </a:rPr>
              <a:t>Fit scaler + PCA</a:t>
            </a:r>
            <a:endParaRPr lang="en-US" sz="1500" dirty="0"/>
          </a:p>
        </p:txBody>
      </p:sp>
      <p:sp>
        <p:nvSpPr>
          <p:cNvPr id="20" name="LOPO 2 text"/>
          <p:cNvSpPr txBox="1"/>
          <p:nvPr/>
        </p:nvSpPr>
        <p:spPr>
          <a:xfrm>
            <a:off x="2450592" y="3675888"/>
            <a:ext cx="1417320" cy="548640"/>
          </a:xfrm>
          <a:prstGeom prst="rect">
            <a:avLst/>
          </a:prstGeom>
          <a:noFill/>
          <a:ln/>
        </p:spPr>
        <p:txBody>
          <a:bodyPr wrap="square" lIns="0" tIns="0" rIns="0" bIns="0" rtlCol="0" anchor="t"/>
          <a:lstStyle/>
          <a:p>
            <a:pPr algn="ctr" indent="0" marL="0">
              <a:buNone/>
            </a:pPr>
            <a:r>
              <a:rPr lang="en-US" sz="1400" dirty="0">
                <a:solidFill>
                  <a:schemeClr val="bg1"/>
                </a:solidFill>
              </a:rPr>
              <a:t>training fold only</a:t>
            </a:r>
            <a:endParaRPr lang="en-US" sz="1400" dirty="0"/>
          </a:p>
        </p:txBody>
      </p:sp>
      <p:pic>
        <p:nvPicPr>
          <p:cNvPr id="21" name="LOPO arrow 2" descr="next">    </p:cNvPr>
          <p:cNvPicPr>
            <a:picLocks noChangeAspect="1"/>
          </p:cNvPicPr>
          <p:nvPr/>
        </p:nvPicPr>
        <p:blipFill>
          <a:blip r:embed="rId2"/>
          <a:stretch>
            <a:fillRect/>
          </a:stretch>
        </p:blipFill>
        <p:spPr>
          <a:xfrm>
            <a:off x="3995928" y="3657600"/>
            <a:ext cx="146304" cy="201168"/>
          </a:xfrm>
          <a:prstGeom prst="rect">
            <a:avLst/>
          </a:prstGeom>
        </p:spPr>
      </p:pic>
      <p:sp>
        <p:nvSpPr>
          <p:cNvPr id="22" name="LOPO 3"/>
          <p:cNvSpPr/>
          <p:nvPr/>
        </p:nvSpPr>
        <p:spPr>
          <a:xfrm>
            <a:off x="4169664" y="3200400"/>
            <a:ext cx="1600200" cy="1143000"/>
          </a:xfrm>
          <a:prstGeom prst="roundRect">
            <a:avLst>
              <a:gd name="adj" fmla="val 8000"/>
            </a:avLst>
          </a:prstGeom>
          <a:solidFill>
            <a:schemeClr val="accent3"/>
          </a:solidFill>
          <a:ln/>
        </p:spPr>
      </p:sp>
      <p:sp>
        <p:nvSpPr>
          <p:cNvPr id="23" name="LOPO 3 heading"/>
          <p:cNvSpPr txBox="1"/>
          <p:nvPr/>
        </p:nvSpPr>
        <p:spPr>
          <a:xfrm>
            <a:off x="4261104" y="3291840"/>
            <a:ext cx="1417320" cy="365760"/>
          </a:xfrm>
          <a:prstGeom prst="rect">
            <a:avLst/>
          </a:prstGeom>
          <a:noFill/>
          <a:ln/>
        </p:spPr>
        <p:txBody>
          <a:bodyPr wrap="square" lIns="0" tIns="0" rIns="0" bIns="0" rtlCol="0" anchor="ctr"/>
          <a:lstStyle/>
          <a:p>
            <a:pPr algn="ctr" indent="0" marL="0">
              <a:buNone/>
            </a:pPr>
            <a:r>
              <a:rPr lang="en-US" sz="1500" b="1" dirty="0">
                <a:solidFill>
                  <a:schemeClr val="bg1"/>
                </a:solidFill>
              </a:rPr>
              <a:t>Classifier</a:t>
            </a:r>
            <a:endParaRPr lang="en-US" sz="1500" dirty="0"/>
          </a:p>
        </p:txBody>
      </p:sp>
      <p:sp>
        <p:nvSpPr>
          <p:cNvPr id="24" name="LOPO 3 text"/>
          <p:cNvSpPr txBox="1"/>
          <p:nvPr/>
        </p:nvSpPr>
        <p:spPr>
          <a:xfrm>
            <a:off x="4261104" y="3675888"/>
            <a:ext cx="1417320" cy="548640"/>
          </a:xfrm>
          <a:prstGeom prst="rect">
            <a:avLst/>
          </a:prstGeom>
          <a:noFill/>
          <a:ln/>
        </p:spPr>
        <p:txBody>
          <a:bodyPr wrap="square" lIns="0" tIns="0" rIns="0" bIns="0" rtlCol="0" anchor="t"/>
          <a:lstStyle/>
          <a:p>
            <a:pPr algn="ctr" indent="0" marL="0">
              <a:buNone/>
            </a:pPr>
            <a:r>
              <a:rPr lang="en-US" sz="1400" dirty="0">
                <a:solidFill>
                  <a:schemeClr val="bg1"/>
                </a:solidFill>
              </a:rPr>
              <a:t>fit on 5 components</a:t>
            </a:r>
            <a:endParaRPr lang="en-US" sz="1400" dirty="0"/>
          </a:p>
        </p:txBody>
      </p:sp>
      <p:pic>
        <p:nvPicPr>
          <p:cNvPr id="25" name="LOPO arrow 3" descr="next">    </p:cNvPr>
          <p:cNvPicPr>
            <a:picLocks noChangeAspect="1"/>
          </p:cNvPicPr>
          <p:nvPr/>
        </p:nvPicPr>
        <p:blipFill>
          <a:blip r:embed="rId3"/>
          <a:stretch>
            <a:fillRect/>
          </a:stretch>
        </p:blipFill>
        <p:spPr>
          <a:xfrm>
            <a:off x="5806440" y="3657600"/>
            <a:ext cx="146304" cy="201168"/>
          </a:xfrm>
          <a:prstGeom prst="rect">
            <a:avLst/>
          </a:prstGeom>
        </p:spPr>
      </p:pic>
      <p:sp>
        <p:nvSpPr>
          <p:cNvPr id="26" name="LOPO 4"/>
          <p:cNvSpPr/>
          <p:nvPr/>
        </p:nvSpPr>
        <p:spPr>
          <a:xfrm>
            <a:off x="5980176" y="3200400"/>
            <a:ext cx="1600200" cy="1143000"/>
          </a:xfrm>
          <a:prstGeom prst="roundRect">
            <a:avLst>
              <a:gd name="adj" fmla="val 8000"/>
            </a:avLst>
          </a:prstGeom>
          <a:solidFill>
            <a:schemeClr val="accent2"/>
          </a:solidFill>
          <a:ln/>
        </p:spPr>
      </p:sp>
      <p:sp>
        <p:nvSpPr>
          <p:cNvPr id="27" name="LOPO 4 heading"/>
          <p:cNvSpPr txBox="1"/>
          <p:nvPr/>
        </p:nvSpPr>
        <p:spPr>
          <a:xfrm>
            <a:off x="6071616" y="3291840"/>
            <a:ext cx="1417320" cy="365760"/>
          </a:xfrm>
          <a:prstGeom prst="rect">
            <a:avLst/>
          </a:prstGeom>
          <a:noFill/>
          <a:ln/>
        </p:spPr>
        <p:txBody>
          <a:bodyPr wrap="square" lIns="0" tIns="0" rIns="0" bIns="0" rtlCol="0" anchor="ctr"/>
          <a:lstStyle/>
          <a:p>
            <a:pPr algn="ctr" indent="0" marL="0">
              <a:buNone/>
            </a:pPr>
            <a:r>
              <a:rPr lang="en-US" sz="1500" b="1" dirty="0">
                <a:solidFill>
                  <a:schemeClr val="bg1"/>
                </a:solidFill>
              </a:rPr>
              <a:t>Test</a:t>
            </a:r>
            <a:endParaRPr lang="en-US" sz="1500" dirty="0"/>
          </a:p>
        </p:txBody>
      </p:sp>
      <p:sp>
        <p:nvSpPr>
          <p:cNvPr id="28" name="LOPO 4 text"/>
          <p:cNvSpPr txBox="1"/>
          <p:nvPr/>
        </p:nvSpPr>
        <p:spPr>
          <a:xfrm>
            <a:off x="6071616" y="3675888"/>
            <a:ext cx="1417320" cy="548640"/>
          </a:xfrm>
          <a:prstGeom prst="rect">
            <a:avLst/>
          </a:prstGeom>
          <a:noFill/>
          <a:ln/>
        </p:spPr>
        <p:txBody>
          <a:bodyPr wrap="square" lIns="0" tIns="0" rIns="0" bIns="0" rtlCol="0" anchor="t"/>
          <a:lstStyle/>
          <a:p>
            <a:pPr algn="ctr" indent="0" marL="0">
              <a:buNone/>
            </a:pPr>
            <a:r>
              <a:rPr lang="en-US" sz="1400" dirty="0">
                <a:solidFill>
                  <a:schemeClr val="bg1"/>
                </a:solidFill>
              </a:rPr>
              <a:t>1 held-out participant</a:t>
            </a:r>
            <a:endParaRPr lang="en-US" sz="1400" dirty="0"/>
          </a:p>
        </p:txBody>
      </p:sp>
      <p:sp>
        <p:nvSpPr>
          <p:cNvPr id="29" name="Strategy bullets"/>
          <p:cNvSpPr txBox="1"/>
          <p:nvPr/>
        </p:nvSpPr>
        <p:spPr>
          <a:xfrm>
            <a:off x="548640" y="4617720"/>
            <a:ext cx="6949440" cy="14630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tx1"/>
                </a:solidFill>
              </a:rPr>
              <a:t>Repeated 30 times, once per participant</a:t>
            </a:r>
            <a:endParaRPr lang="en-US" sz="1500" dirty="0"/>
          </a:p>
          <a:p>
            <a:pPr marL="228600" indent="-228600">
              <a:spcAft>
                <a:spcPts val="600"/>
              </a:spcAft>
              <a:buSzPct val="100000"/>
              <a:buChar char="•"/>
            </a:pPr>
            <a:r>
              <a:rPr lang="en-US" sz="1500" dirty="0">
                <a:solidFill>
                  <a:schemeClr val="tx1"/>
                </a:solidFill>
              </a:rPr>
              <a:t>Binary targets: valence class, arousal class</a:t>
            </a:r>
            <a:endParaRPr lang="en-US" sz="1500" dirty="0"/>
          </a:p>
          <a:p>
            <a:pPr marL="228600" indent="-228600">
              <a:spcAft>
                <a:spcPts val="600"/>
              </a:spcAft>
              <a:buSzPct val="100000"/>
              <a:buChar char="•"/>
            </a:pPr>
            <a:r>
              <a:rPr lang="en-US" sz="1500" dirty="0">
                <a:solidFill>
                  <a:schemeClr val="tx1"/>
                </a:solidFill>
              </a:rPr>
              <a:t>Word, activity, session never used as predictors</a:t>
            </a:r>
            <a:endParaRPr lang="en-US" sz="1500" dirty="0"/>
          </a:p>
        </p:txBody>
      </p:sp>
      <p:sp>
        <p:nvSpPr>
          <p:cNvPr id="30" name="Model parameters label"/>
          <p:cNvSpPr txBox="1"/>
          <p:nvPr/>
        </p:nvSpPr>
        <p:spPr>
          <a:xfrm>
            <a:off x="7863840" y="1325880"/>
            <a:ext cx="3657600" cy="347472"/>
          </a:xfrm>
          <a:prstGeom prst="rect">
            <a:avLst/>
          </a:prstGeom>
          <a:noFill/>
          <a:ln/>
        </p:spPr>
        <p:txBody>
          <a:bodyPr wrap="square" lIns="0" tIns="0" rIns="0" bIns="0" rtlCol="0" anchor="ctr"/>
          <a:lstStyle/>
          <a:p>
            <a:pPr indent="0" marL="0">
              <a:buNone/>
            </a:pPr>
            <a:r>
              <a:rPr lang="en-US" sz="1600" b="1" dirty="0">
                <a:solidFill>
                  <a:schemeClr val="accent3"/>
                </a:solidFill>
              </a:rPr>
              <a:t>Model parameters</a:t>
            </a:r>
            <a:endParaRPr lang="en-US" sz="1600" dirty="0"/>
          </a:p>
        </p:txBody>
      </p:sp>
      <p:graphicFrame>
        <p:nvGraphicFramePr>
          <p:cNvPr id="6" name="Parameters table"/>
          <p:cNvGraphicFramePr>
            <a:graphicFrameLocks noGrp="1"/>
          </p:cNvGraphicFramePr>
          <p:nvPr>
            <p:extLst>
              <p:ext uri="{D42A27DB-BD31-4B8C-83A1-F6EECF244321}">
                <p14:modId xmlns:p14="http://schemas.microsoft.com/office/powerpoint/2010/main" val="1579011935"/>
              </p:ext>
            </p:extLst>
          </p:nvPr>
        </p:nvGraphicFramePr>
        <p:xfrm>
          <a:off x="7863840" y="1737360"/>
          <a:ext cx="3776472" cy="914400"/>
        </p:xfrm>
        <a:graphic>
          <a:graphicData uri="http://schemas.openxmlformats.org/drawingml/2006/table">
            <a:tbl>
              <a:tblPr/>
              <a:tblGrid>
                <a:gridCol w="1417320"/>
                <a:gridCol w="2359152"/>
              </a:tblGrid>
              <a:tr h="56692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Setting</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35206B"/>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Logistic Regression</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 = 0.5, balanced, max_iter 2000</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3EFF8"/>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SVM</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RBF, C = 1.0, balanced</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100 trees, depth 4, min leaf 2, balanced</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3EFF8"/>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Preprocessing</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StandardScaler → PCA (5)</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Evaluation</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30 LOPO folds; 1000 permutations</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3EFF8"/>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Seed</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42</a:t>
                      </a:r>
                      <a:endParaRPr lang="en-US" sz="1400" dirty="0">
                        <a:latin typeface="Calibri" charset="0"/>
                        <a:ea typeface="Calibri" charset="0"/>
                        <a:cs typeface="Calibri" charset="0"/>
                      </a:endParaRPr>
                    </a:p>
                  </a:txBody>
                  <a:tcPr marL="91440" marR="73152"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1"/>
                </a:solidFill>
              </a:rPr>
              <a:t>6. Model Evaluation</a:t>
            </a:r>
            <a:endParaRPr lang="en-US" sz="3400" dirty="0"/>
          </a:p>
        </p:txBody>
      </p:sp>
      <p:sp>
        <p:nvSpPr>
          <p:cNvPr id="3" name="Valence: handcrafted + LogReg heading"/>
          <p:cNvSpPr txBox="1"/>
          <p:nvPr/>
        </p:nvSpPr>
        <p:spPr>
          <a:xfrm>
            <a:off x="548640" y="1325880"/>
            <a:ext cx="5394960" cy="329184"/>
          </a:xfrm>
          <a:prstGeom prst="rect">
            <a:avLst/>
          </a:prstGeom>
          <a:noFill/>
          <a:ln/>
        </p:spPr>
        <p:txBody>
          <a:bodyPr wrap="square" lIns="0" tIns="0" rIns="0" bIns="0" rtlCol="0" anchor="ctr"/>
          <a:lstStyle/>
          <a:p>
            <a:pPr indent="0" marL="0">
              <a:buNone/>
            </a:pPr>
            <a:r>
              <a:rPr lang="en-US" sz="1500" b="1" dirty="0">
                <a:solidFill>
                  <a:schemeClr val="accent1"/>
                </a:solidFill>
              </a:rPr>
              <a:t>Valence: handcrafted + LogReg</a:t>
            </a:r>
            <a:endParaRPr lang="en-US" sz="1500" dirty="0"/>
          </a:p>
        </p:txBody>
      </p:sp>
      <p:sp>
        <p:nvSpPr>
          <p:cNvPr id="4" name="Valence: handcrafted + LogReg predicted label"/>
          <p:cNvSpPr txBox="1"/>
          <p:nvPr/>
        </p:nvSpPr>
        <p:spPr>
          <a:xfrm>
            <a:off x="1600200" y="1691640"/>
            <a:ext cx="1554480" cy="274320"/>
          </a:xfrm>
          <a:prstGeom prst="rect">
            <a:avLst/>
          </a:prstGeom>
          <a:noFill/>
          <a:ln/>
        </p:spPr>
        <p:txBody>
          <a:bodyPr wrap="square" lIns="0" tIns="0" rIns="0" bIns="0" rtlCol="0" anchor="ctr"/>
          <a:lstStyle/>
          <a:p>
            <a:pPr algn="ctr" indent="0" marL="0">
              <a:buNone/>
            </a:pPr>
            <a:r>
              <a:rPr lang="en-US" sz="1100" dirty="0">
                <a:solidFill>
                  <a:schemeClr val="tx2"/>
                </a:solidFill>
              </a:rPr>
              <a:t>Predicted →</a:t>
            </a:r>
            <a:endParaRPr lang="en-US" sz="1100" dirty="0"/>
          </a:p>
        </p:txBody>
      </p:sp>
      <p:sp>
        <p:nvSpPr>
          <p:cNvPr id="5" name="Valence: handcrafted + LogReg col 0"/>
          <p:cNvSpPr txBox="1"/>
          <p:nvPr/>
        </p:nvSpPr>
        <p:spPr>
          <a:xfrm>
            <a:off x="1600200" y="3127248"/>
            <a:ext cx="777240" cy="256032"/>
          </a:xfrm>
          <a:prstGeom prst="rect">
            <a:avLst/>
          </a:prstGeom>
          <a:noFill/>
          <a:ln/>
        </p:spPr>
        <p:txBody>
          <a:bodyPr wrap="square" lIns="0" tIns="0" rIns="0" bIns="0" rtlCol="0" anchor="ctr"/>
          <a:lstStyle/>
          <a:p>
            <a:pPr algn="ctr" indent="0" marL="0">
              <a:buNone/>
            </a:pPr>
            <a:r>
              <a:rPr lang="en-US" sz="1100" dirty="0">
                <a:solidFill>
                  <a:schemeClr val="tx2"/>
                </a:solidFill>
              </a:rPr>
              <a:t>non-pos</a:t>
            </a:r>
            <a:endParaRPr lang="en-US" sz="1100" dirty="0"/>
          </a:p>
        </p:txBody>
      </p:sp>
      <p:sp>
        <p:nvSpPr>
          <p:cNvPr id="6" name="Valence: handcrafted + LogReg col 1"/>
          <p:cNvSpPr txBox="1"/>
          <p:nvPr/>
        </p:nvSpPr>
        <p:spPr>
          <a:xfrm>
            <a:off x="2377440" y="3127248"/>
            <a:ext cx="777240" cy="256032"/>
          </a:xfrm>
          <a:prstGeom prst="rect">
            <a:avLst/>
          </a:prstGeom>
          <a:noFill/>
          <a:ln/>
        </p:spPr>
        <p:txBody>
          <a:bodyPr wrap="square" lIns="0" tIns="0" rIns="0" bIns="0" rtlCol="0" anchor="ctr"/>
          <a:lstStyle/>
          <a:p>
            <a:pPr algn="ctr" indent="0" marL="0">
              <a:buNone/>
            </a:pPr>
            <a:r>
              <a:rPr lang="en-US" sz="1100" dirty="0">
                <a:solidFill>
                  <a:schemeClr val="tx2"/>
                </a:solidFill>
              </a:rPr>
              <a:t>positive</a:t>
            </a:r>
            <a:endParaRPr lang="en-US" sz="1100" dirty="0"/>
          </a:p>
        </p:txBody>
      </p:sp>
      <p:sp>
        <p:nvSpPr>
          <p:cNvPr id="7" name="Valence: handcrafted + LogReg row 0"/>
          <p:cNvSpPr txBox="1"/>
          <p:nvPr/>
        </p:nvSpPr>
        <p:spPr>
          <a:xfrm>
            <a:off x="548640" y="2011680"/>
            <a:ext cx="1005840" cy="548640"/>
          </a:xfrm>
          <a:prstGeom prst="rect">
            <a:avLst/>
          </a:prstGeom>
          <a:noFill/>
          <a:ln/>
        </p:spPr>
        <p:txBody>
          <a:bodyPr wrap="square" lIns="0" tIns="0" rIns="0" bIns="0" rtlCol="0" anchor="ctr"/>
          <a:lstStyle/>
          <a:p>
            <a:pPr algn="r" indent="0" marL="0">
              <a:buNone/>
            </a:pPr>
            <a:r>
              <a:rPr lang="en-US" sz="1100" dirty="0">
                <a:solidFill>
                  <a:schemeClr val="tx2"/>
                </a:solidFill>
              </a:rPr>
              <a:t>non-pos</a:t>
            </a:r>
            <a:endParaRPr lang="en-US" sz="1100" dirty="0"/>
          </a:p>
        </p:txBody>
      </p:sp>
      <p:sp>
        <p:nvSpPr>
          <p:cNvPr id="8" name="Valence: handcrafted + LogReg row 1"/>
          <p:cNvSpPr txBox="1"/>
          <p:nvPr/>
        </p:nvSpPr>
        <p:spPr>
          <a:xfrm>
            <a:off x="548640" y="2560320"/>
            <a:ext cx="1005840" cy="548640"/>
          </a:xfrm>
          <a:prstGeom prst="rect">
            <a:avLst/>
          </a:prstGeom>
          <a:noFill/>
          <a:ln/>
        </p:spPr>
        <p:txBody>
          <a:bodyPr wrap="square" lIns="0" tIns="0" rIns="0" bIns="0" rtlCol="0" anchor="ctr"/>
          <a:lstStyle/>
          <a:p>
            <a:pPr algn="r" indent="0" marL="0">
              <a:buNone/>
            </a:pPr>
            <a:r>
              <a:rPr lang="en-US" sz="1100" dirty="0">
                <a:solidFill>
                  <a:schemeClr val="tx2"/>
                </a:solidFill>
              </a:rPr>
              <a:t>positive</a:t>
            </a:r>
            <a:endParaRPr lang="en-US" sz="1100" dirty="0"/>
          </a:p>
        </p:txBody>
      </p:sp>
      <p:sp>
        <p:nvSpPr>
          <p:cNvPr id="9" name="Valence: handcrafted + LogReg cell 00"/>
          <p:cNvSpPr/>
          <p:nvPr/>
        </p:nvSpPr>
        <p:spPr>
          <a:xfrm>
            <a:off x="1600200" y="2011680"/>
            <a:ext cx="740664" cy="512064"/>
          </a:xfrm>
          <a:prstGeom prst="rect">
            <a:avLst/>
          </a:prstGeom>
          <a:solidFill>
            <a:schemeClr val="accent1"/>
          </a:solidFill>
          <a:ln/>
        </p:spPr>
      </p:sp>
      <p:sp>
        <p:nvSpPr>
          <p:cNvPr id="10" name="Valence: handcrafted + LogReg cell 00 value"/>
          <p:cNvSpPr txBox="1"/>
          <p:nvPr/>
        </p:nvSpPr>
        <p:spPr>
          <a:xfrm>
            <a:off x="1600200" y="2011680"/>
            <a:ext cx="740664" cy="512064"/>
          </a:xfrm>
          <a:prstGeom prst="rect">
            <a:avLst/>
          </a:prstGeom>
          <a:noFill/>
          <a:ln/>
        </p:spPr>
        <p:txBody>
          <a:bodyPr wrap="square" lIns="0" tIns="0" rIns="0" bIns="0" rtlCol="0" anchor="ctr"/>
          <a:lstStyle/>
          <a:p>
            <a:pPr algn="ctr" indent="0" marL="0">
              <a:buNone/>
            </a:pPr>
            <a:r>
              <a:rPr lang="en-US" sz="1800" b="1" dirty="0">
                <a:solidFill>
                  <a:schemeClr val="bg1"/>
                </a:solidFill>
              </a:rPr>
              <a:t>14</a:t>
            </a:r>
            <a:endParaRPr lang="en-US" sz="1800" dirty="0"/>
          </a:p>
        </p:txBody>
      </p:sp>
      <p:sp>
        <p:nvSpPr>
          <p:cNvPr id="11" name="Valence: handcrafted + LogReg cell 01"/>
          <p:cNvSpPr/>
          <p:nvPr/>
        </p:nvSpPr>
        <p:spPr>
          <a:xfrm>
            <a:off x="2377440" y="2011680"/>
            <a:ext cx="740664" cy="512064"/>
          </a:xfrm>
          <a:prstGeom prst="rect">
            <a:avLst/>
          </a:prstGeom>
          <a:solidFill>
            <a:schemeClr val="bg2"/>
          </a:solidFill>
          <a:ln/>
        </p:spPr>
      </p:sp>
      <p:sp>
        <p:nvSpPr>
          <p:cNvPr id="12" name="Valence: handcrafted + LogReg cell 01 value"/>
          <p:cNvSpPr txBox="1"/>
          <p:nvPr/>
        </p:nvSpPr>
        <p:spPr>
          <a:xfrm>
            <a:off x="2377440" y="2011680"/>
            <a:ext cx="740664" cy="512064"/>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3" name="Valence: handcrafted + LogReg cell 10"/>
          <p:cNvSpPr/>
          <p:nvPr/>
        </p:nvSpPr>
        <p:spPr>
          <a:xfrm>
            <a:off x="1600200" y="2560320"/>
            <a:ext cx="740664" cy="512064"/>
          </a:xfrm>
          <a:prstGeom prst="rect">
            <a:avLst/>
          </a:prstGeom>
          <a:solidFill>
            <a:schemeClr val="bg2"/>
          </a:solidFill>
          <a:ln/>
        </p:spPr>
      </p:sp>
      <p:sp>
        <p:nvSpPr>
          <p:cNvPr id="14" name="Valence: handcrafted + LogReg cell 10 value"/>
          <p:cNvSpPr txBox="1"/>
          <p:nvPr/>
        </p:nvSpPr>
        <p:spPr>
          <a:xfrm>
            <a:off x="1600200" y="2560320"/>
            <a:ext cx="740664" cy="512064"/>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5" name="Valence: handcrafted + LogReg cell 11"/>
          <p:cNvSpPr/>
          <p:nvPr/>
        </p:nvSpPr>
        <p:spPr>
          <a:xfrm>
            <a:off x="2377440" y="2560320"/>
            <a:ext cx="740664" cy="512064"/>
          </a:xfrm>
          <a:prstGeom prst="rect">
            <a:avLst/>
          </a:prstGeom>
          <a:solidFill>
            <a:schemeClr val="accent1"/>
          </a:solidFill>
          <a:ln/>
        </p:spPr>
      </p:sp>
      <p:sp>
        <p:nvSpPr>
          <p:cNvPr id="16" name="Valence: handcrafted + LogReg cell 11 value"/>
          <p:cNvSpPr txBox="1"/>
          <p:nvPr/>
        </p:nvSpPr>
        <p:spPr>
          <a:xfrm>
            <a:off x="2377440" y="2560320"/>
            <a:ext cx="740664" cy="512064"/>
          </a:xfrm>
          <a:prstGeom prst="rect">
            <a:avLst/>
          </a:prstGeom>
          <a:noFill/>
          <a:ln/>
        </p:spPr>
        <p:txBody>
          <a:bodyPr wrap="square" lIns="0" tIns="0" rIns="0" bIns="0" rtlCol="0" anchor="ctr"/>
          <a:lstStyle/>
          <a:p>
            <a:pPr algn="ctr" indent="0" marL="0">
              <a:buNone/>
            </a:pPr>
            <a:r>
              <a:rPr lang="en-US" sz="1800" b="1" dirty="0">
                <a:solidFill>
                  <a:schemeClr val="bg1"/>
                </a:solidFill>
              </a:rPr>
              <a:t>8</a:t>
            </a:r>
            <a:endParaRPr lang="en-US" sz="1800" dirty="0"/>
          </a:p>
        </p:txBody>
      </p:sp>
      <p:graphicFrame>
        <p:nvGraphicFramePr>
          <p:cNvPr id="7" name="Valence: handcrafted + LogReg metrics"/>
          <p:cNvGraphicFramePr>
            <a:graphicFrameLocks noGrp="1"/>
          </p:cNvGraphicFramePr>
          <p:nvPr>
            <p:extLst>
              <p:ext uri="{D42A27DB-BD31-4B8C-83A1-F6EECF244321}">
                <p14:modId xmlns:p14="http://schemas.microsoft.com/office/powerpoint/2010/main" val="1579011935"/>
              </p:ext>
            </p:extLst>
          </p:nvPr>
        </p:nvGraphicFramePr>
        <p:xfrm>
          <a:off x="3337560" y="1874520"/>
          <a:ext cx="2606040" cy="914400"/>
        </p:xfrm>
        <a:graphic>
          <a:graphicData uri="http://schemas.openxmlformats.org/drawingml/2006/table">
            <a:tbl>
              <a:tblPr/>
              <a:tblGrid>
                <a:gridCol w="1051560"/>
                <a:gridCol w="521208"/>
                <a:gridCol w="548640"/>
                <a:gridCol w="484632"/>
              </a:tblGrid>
              <a:tr h="365760">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Class</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Prec.</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non-positive</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0.78</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0.78</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0.78</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positive</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0.67</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0.67</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0.67</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macro avg</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0.72</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0.72</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0.72</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r>
            </a:tbl>
          </a:graphicData>
        </a:graphic>
      </p:graphicFrame>
      <p:sp>
        <p:nvSpPr>
          <p:cNvPr id="18" name="Arousal: spectrogram CNN + LogReg heading"/>
          <p:cNvSpPr txBox="1"/>
          <p:nvPr/>
        </p:nvSpPr>
        <p:spPr>
          <a:xfrm>
            <a:off x="548640" y="3749040"/>
            <a:ext cx="5394960" cy="329184"/>
          </a:xfrm>
          <a:prstGeom prst="rect">
            <a:avLst/>
          </a:prstGeom>
          <a:noFill/>
          <a:ln/>
        </p:spPr>
        <p:txBody>
          <a:bodyPr wrap="square" lIns="0" tIns="0" rIns="0" bIns="0" rtlCol="0" anchor="ctr"/>
          <a:lstStyle/>
          <a:p>
            <a:pPr indent="0" marL="0">
              <a:buNone/>
            </a:pPr>
            <a:r>
              <a:rPr lang="en-US" sz="1500" b="1" dirty="0">
                <a:solidFill>
                  <a:schemeClr val="accent3"/>
                </a:solidFill>
              </a:rPr>
              <a:t>Arousal: spectrogram CNN + LogReg</a:t>
            </a:r>
            <a:endParaRPr lang="en-US" sz="1500" dirty="0"/>
          </a:p>
        </p:txBody>
      </p:sp>
      <p:sp>
        <p:nvSpPr>
          <p:cNvPr id="19" name="Arousal: spectrogram CNN + LogReg predicted label"/>
          <p:cNvSpPr txBox="1"/>
          <p:nvPr/>
        </p:nvSpPr>
        <p:spPr>
          <a:xfrm>
            <a:off x="1600200" y="4114800"/>
            <a:ext cx="1554480" cy="274320"/>
          </a:xfrm>
          <a:prstGeom prst="rect">
            <a:avLst/>
          </a:prstGeom>
          <a:noFill/>
          <a:ln/>
        </p:spPr>
        <p:txBody>
          <a:bodyPr wrap="square" lIns="0" tIns="0" rIns="0" bIns="0" rtlCol="0" anchor="ctr"/>
          <a:lstStyle/>
          <a:p>
            <a:pPr algn="ctr" indent="0" marL="0">
              <a:buNone/>
            </a:pPr>
            <a:r>
              <a:rPr lang="en-US" sz="1100" dirty="0">
                <a:solidFill>
                  <a:schemeClr val="tx2"/>
                </a:solidFill>
              </a:rPr>
              <a:t>Predicted →</a:t>
            </a:r>
            <a:endParaRPr lang="en-US" sz="1100" dirty="0"/>
          </a:p>
        </p:txBody>
      </p:sp>
      <p:sp>
        <p:nvSpPr>
          <p:cNvPr id="20" name="Arousal: spectrogram CNN + LogReg col 0"/>
          <p:cNvSpPr txBox="1"/>
          <p:nvPr/>
        </p:nvSpPr>
        <p:spPr>
          <a:xfrm>
            <a:off x="1600200" y="5550408"/>
            <a:ext cx="777240" cy="256032"/>
          </a:xfrm>
          <a:prstGeom prst="rect">
            <a:avLst/>
          </a:prstGeom>
          <a:noFill/>
          <a:ln/>
        </p:spPr>
        <p:txBody>
          <a:bodyPr wrap="square" lIns="0" tIns="0" rIns="0" bIns="0" rtlCol="0" anchor="ctr"/>
          <a:lstStyle/>
          <a:p>
            <a:pPr algn="ctr" indent="0" marL="0">
              <a:buNone/>
            </a:pPr>
            <a:r>
              <a:rPr lang="en-US" sz="1100" dirty="0">
                <a:solidFill>
                  <a:schemeClr val="tx2"/>
                </a:solidFill>
              </a:rPr>
              <a:t>high</a:t>
            </a:r>
            <a:endParaRPr lang="en-US" sz="1100" dirty="0"/>
          </a:p>
        </p:txBody>
      </p:sp>
      <p:sp>
        <p:nvSpPr>
          <p:cNvPr id="21" name="Arousal: spectrogram CNN + LogReg col 1"/>
          <p:cNvSpPr txBox="1"/>
          <p:nvPr/>
        </p:nvSpPr>
        <p:spPr>
          <a:xfrm>
            <a:off x="2377440" y="5550408"/>
            <a:ext cx="777240" cy="256032"/>
          </a:xfrm>
          <a:prstGeom prst="rect">
            <a:avLst/>
          </a:prstGeom>
          <a:noFill/>
          <a:ln/>
        </p:spPr>
        <p:txBody>
          <a:bodyPr wrap="square" lIns="0" tIns="0" rIns="0" bIns="0" rtlCol="0" anchor="ctr"/>
          <a:lstStyle/>
          <a:p>
            <a:pPr algn="ctr" indent="0" marL="0">
              <a:buNone/>
            </a:pPr>
            <a:r>
              <a:rPr lang="en-US" sz="1100" dirty="0">
                <a:solidFill>
                  <a:schemeClr val="tx2"/>
                </a:solidFill>
              </a:rPr>
              <a:t>low-mod</a:t>
            </a:r>
            <a:endParaRPr lang="en-US" sz="1100" dirty="0"/>
          </a:p>
        </p:txBody>
      </p:sp>
      <p:sp>
        <p:nvSpPr>
          <p:cNvPr id="22" name="Arousal: spectrogram CNN + LogReg row 0"/>
          <p:cNvSpPr txBox="1"/>
          <p:nvPr/>
        </p:nvSpPr>
        <p:spPr>
          <a:xfrm>
            <a:off x="548640" y="4434840"/>
            <a:ext cx="1005840" cy="548640"/>
          </a:xfrm>
          <a:prstGeom prst="rect">
            <a:avLst/>
          </a:prstGeom>
          <a:noFill/>
          <a:ln/>
        </p:spPr>
        <p:txBody>
          <a:bodyPr wrap="square" lIns="0" tIns="0" rIns="0" bIns="0" rtlCol="0" anchor="ctr"/>
          <a:lstStyle/>
          <a:p>
            <a:pPr algn="r" indent="0" marL="0">
              <a:buNone/>
            </a:pPr>
            <a:r>
              <a:rPr lang="en-US" sz="1100" dirty="0">
                <a:solidFill>
                  <a:schemeClr val="tx2"/>
                </a:solidFill>
              </a:rPr>
              <a:t>high</a:t>
            </a:r>
            <a:endParaRPr lang="en-US" sz="1100" dirty="0"/>
          </a:p>
        </p:txBody>
      </p:sp>
      <p:sp>
        <p:nvSpPr>
          <p:cNvPr id="23" name="Arousal: spectrogram CNN + LogReg row 1"/>
          <p:cNvSpPr txBox="1"/>
          <p:nvPr/>
        </p:nvSpPr>
        <p:spPr>
          <a:xfrm>
            <a:off x="548640" y="4983480"/>
            <a:ext cx="1005840" cy="548640"/>
          </a:xfrm>
          <a:prstGeom prst="rect">
            <a:avLst/>
          </a:prstGeom>
          <a:noFill/>
          <a:ln/>
        </p:spPr>
        <p:txBody>
          <a:bodyPr wrap="square" lIns="0" tIns="0" rIns="0" bIns="0" rtlCol="0" anchor="ctr"/>
          <a:lstStyle/>
          <a:p>
            <a:pPr algn="r" indent="0" marL="0">
              <a:buNone/>
            </a:pPr>
            <a:r>
              <a:rPr lang="en-US" sz="1100" dirty="0">
                <a:solidFill>
                  <a:schemeClr val="tx2"/>
                </a:solidFill>
              </a:rPr>
              <a:t>low-mod</a:t>
            </a:r>
            <a:endParaRPr lang="en-US" sz="1100" dirty="0"/>
          </a:p>
        </p:txBody>
      </p:sp>
      <p:sp>
        <p:nvSpPr>
          <p:cNvPr id="24" name="Arousal: spectrogram CNN + LogReg cell 00"/>
          <p:cNvSpPr/>
          <p:nvPr/>
        </p:nvSpPr>
        <p:spPr>
          <a:xfrm>
            <a:off x="1600200" y="4434840"/>
            <a:ext cx="740664" cy="512064"/>
          </a:xfrm>
          <a:prstGeom prst="rect">
            <a:avLst/>
          </a:prstGeom>
          <a:solidFill>
            <a:schemeClr val="accent3"/>
          </a:solidFill>
          <a:ln/>
        </p:spPr>
      </p:sp>
      <p:sp>
        <p:nvSpPr>
          <p:cNvPr id="25" name="Arousal: spectrogram CNN + LogReg cell 00 value"/>
          <p:cNvSpPr txBox="1"/>
          <p:nvPr/>
        </p:nvSpPr>
        <p:spPr>
          <a:xfrm>
            <a:off x="1600200" y="4434840"/>
            <a:ext cx="740664" cy="512064"/>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6" name="Arousal: spectrogram CNN + LogReg cell 01"/>
          <p:cNvSpPr/>
          <p:nvPr/>
        </p:nvSpPr>
        <p:spPr>
          <a:xfrm>
            <a:off x="2377440" y="4434840"/>
            <a:ext cx="740664" cy="512064"/>
          </a:xfrm>
          <a:prstGeom prst="rect">
            <a:avLst/>
          </a:prstGeom>
          <a:solidFill>
            <a:schemeClr val="bg2"/>
          </a:solidFill>
          <a:ln/>
        </p:spPr>
      </p:sp>
      <p:sp>
        <p:nvSpPr>
          <p:cNvPr id="27" name="Arousal: spectrogram CNN + LogReg cell 01 value"/>
          <p:cNvSpPr txBox="1"/>
          <p:nvPr/>
        </p:nvSpPr>
        <p:spPr>
          <a:xfrm>
            <a:off x="2377440" y="4434840"/>
            <a:ext cx="740664" cy="512064"/>
          </a:xfrm>
          <a:prstGeom prst="rect">
            <a:avLst/>
          </a:prstGeom>
          <a:noFill/>
          <a:ln/>
        </p:spPr>
        <p:txBody>
          <a:bodyPr wrap="square" lIns="0" tIns="0" rIns="0" bIns="0" rtlCol="0" anchor="ctr"/>
          <a:lstStyle/>
          <a:p>
            <a:pPr algn="ctr" indent="0" marL="0">
              <a:buNone/>
            </a:pPr>
            <a:r>
              <a:rPr lang="en-US" sz="1800" b="1" dirty="0">
                <a:solidFill>
                  <a:schemeClr val="tx1"/>
                </a:solidFill>
              </a:rPr>
              <a:t>6</a:t>
            </a:r>
            <a:endParaRPr lang="en-US" sz="1800" dirty="0"/>
          </a:p>
        </p:txBody>
      </p:sp>
      <p:sp>
        <p:nvSpPr>
          <p:cNvPr id="28" name="Arousal: spectrogram CNN + LogReg cell 10"/>
          <p:cNvSpPr/>
          <p:nvPr/>
        </p:nvSpPr>
        <p:spPr>
          <a:xfrm>
            <a:off x="1600200" y="4983480"/>
            <a:ext cx="740664" cy="512064"/>
          </a:xfrm>
          <a:prstGeom prst="rect">
            <a:avLst/>
          </a:prstGeom>
          <a:solidFill>
            <a:schemeClr val="bg2"/>
          </a:solidFill>
          <a:ln/>
        </p:spPr>
      </p:sp>
      <p:sp>
        <p:nvSpPr>
          <p:cNvPr id="29" name="Arousal: spectrogram CNN + LogReg cell 10 value"/>
          <p:cNvSpPr txBox="1"/>
          <p:nvPr/>
        </p:nvSpPr>
        <p:spPr>
          <a:xfrm>
            <a:off x="1600200" y="4983480"/>
            <a:ext cx="740664" cy="512064"/>
          </a:xfrm>
          <a:prstGeom prst="rect">
            <a:avLst/>
          </a:prstGeom>
          <a:noFill/>
          <a:ln/>
        </p:spPr>
        <p:txBody>
          <a:bodyPr wrap="square" lIns="0" tIns="0" rIns="0" bIns="0" rtlCol="0" anchor="ctr"/>
          <a:lstStyle/>
          <a:p>
            <a:pPr algn="ctr" indent="0" marL="0">
              <a:buNone/>
            </a:pPr>
            <a:r>
              <a:rPr lang="en-US" sz="1800" b="1" dirty="0">
                <a:solidFill>
                  <a:schemeClr val="tx1"/>
                </a:solidFill>
              </a:rPr>
              <a:t>6</a:t>
            </a:r>
            <a:endParaRPr lang="en-US" sz="1800" dirty="0"/>
          </a:p>
        </p:txBody>
      </p:sp>
      <p:sp>
        <p:nvSpPr>
          <p:cNvPr id="30" name="Arousal: spectrogram CNN + LogReg cell 11"/>
          <p:cNvSpPr/>
          <p:nvPr/>
        </p:nvSpPr>
        <p:spPr>
          <a:xfrm>
            <a:off x="2377440" y="4983480"/>
            <a:ext cx="740664" cy="512064"/>
          </a:xfrm>
          <a:prstGeom prst="rect">
            <a:avLst/>
          </a:prstGeom>
          <a:solidFill>
            <a:schemeClr val="accent3"/>
          </a:solidFill>
          <a:ln/>
        </p:spPr>
      </p:sp>
      <p:sp>
        <p:nvSpPr>
          <p:cNvPr id="31" name="Arousal: spectrogram CNN + LogReg cell 11 value"/>
          <p:cNvSpPr txBox="1"/>
          <p:nvPr/>
        </p:nvSpPr>
        <p:spPr>
          <a:xfrm>
            <a:off x="2377440" y="4983480"/>
            <a:ext cx="740664" cy="512064"/>
          </a:xfrm>
          <a:prstGeom prst="rect">
            <a:avLst/>
          </a:prstGeom>
          <a:noFill/>
          <a:ln/>
        </p:spPr>
        <p:txBody>
          <a:bodyPr wrap="square" lIns="0" tIns="0" rIns="0" bIns="0" rtlCol="0" anchor="ctr"/>
          <a:lstStyle/>
          <a:p>
            <a:pPr algn="ctr" indent="0" marL="0">
              <a:buNone/>
            </a:pPr>
            <a:r>
              <a:rPr lang="en-US" sz="1800" b="1" dirty="0">
                <a:solidFill>
                  <a:schemeClr val="bg1"/>
                </a:solidFill>
              </a:rPr>
              <a:t>14</a:t>
            </a:r>
            <a:endParaRPr lang="en-US" sz="1800" dirty="0"/>
          </a:p>
        </p:txBody>
      </p:sp>
      <p:graphicFrame>
        <p:nvGraphicFramePr>
          <p:cNvPr id="13" name="Arousal: spectrogram CNN + LogReg metrics"/>
          <p:cNvGraphicFramePr>
            <a:graphicFrameLocks noGrp="1"/>
          </p:cNvGraphicFramePr>
          <p:nvPr>
            <p:extLst>
              <p:ext uri="{D42A27DB-BD31-4B8C-83A1-F6EECF244321}">
                <p14:modId xmlns:p14="http://schemas.microsoft.com/office/powerpoint/2010/main" val="1579011935"/>
              </p:ext>
            </p:extLst>
          </p:nvPr>
        </p:nvGraphicFramePr>
        <p:xfrm>
          <a:off x="3337560" y="4297680"/>
          <a:ext cx="2606040" cy="914400"/>
        </p:xfrm>
        <a:graphic>
          <a:graphicData uri="http://schemas.openxmlformats.org/drawingml/2006/table">
            <a:tbl>
              <a:tblPr/>
              <a:tblGrid>
                <a:gridCol w="1051560"/>
                <a:gridCol w="521208"/>
                <a:gridCol w="548640"/>
                <a:gridCol w="484632"/>
              </a:tblGrid>
              <a:tr h="365760">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Class</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Prec.</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Recall</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b="1" dirty="0">
                          <a:solidFill>
                            <a:schemeClr val="tx2"/>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0.40</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0.40</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0.40</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low-mod</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r>
              <a:tr h="365760">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macro avg</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0.55</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0.55</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0.55</a:t>
                      </a:r>
                      <a:endParaRPr lang="en-US" sz="1300" dirty="0">
                        <a:latin typeface="Calibri" charset="0"/>
                        <a:ea typeface="Calibri" charset="0"/>
                        <a:cs typeface="Calibri" charset="0"/>
                      </a:endParaRPr>
                    </a:p>
                  </a:txBody>
                  <a:tcPr marL="36576" marR="36576" marT="0" marB="0"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tcPr>
                </a:tc>
              </a:tr>
            </a:tbl>
          </a:graphicData>
        </a:graphic>
      </p:graphicFrame>
      <p:sp>
        <p:nvSpPr>
          <p:cNvPr id="33" name="Model comparison (accuracy / macro-F1) label"/>
          <p:cNvSpPr txBox="1"/>
          <p:nvPr/>
        </p:nvSpPr>
        <p:spPr>
          <a:xfrm>
            <a:off x="6263640" y="1325880"/>
            <a:ext cx="5394960" cy="347472"/>
          </a:xfrm>
          <a:prstGeom prst="rect">
            <a:avLst/>
          </a:prstGeom>
          <a:noFill/>
          <a:ln/>
        </p:spPr>
        <p:txBody>
          <a:bodyPr wrap="square" lIns="0" tIns="0" rIns="0" bIns="0" rtlCol="0" anchor="ctr"/>
          <a:lstStyle/>
          <a:p>
            <a:pPr indent="0" marL="0">
              <a:buNone/>
            </a:pPr>
            <a:r>
              <a:rPr lang="en-US" sz="1600" b="1" dirty="0">
                <a:solidFill>
                  <a:schemeClr val="accent3"/>
                </a:solidFill>
              </a:rPr>
              <a:t>Model comparison (accuracy / macro-F1)</a:t>
            </a:r>
            <a:endParaRPr lang="en-US" sz="1600" dirty="0"/>
          </a:p>
        </p:txBody>
      </p:sp>
      <p:graphicFrame>
        <p:nvGraphicFramePr>
          <p:cNvPr id="19" name="Comparison table"/>
          <p:cNvGraphicFramePr>
            <a:graphicFrameLocks noGrp="1"/>
          </p:cNvGraphicFramePr>
          <p:nvPr>
            <p:extLst>
              <p:ext uri="{D42A27DB-BD31-4B8C-83A1-F6EECF244321}">
                <p14:modId xmlns:p14="http://schemas.microsoft.com/office/powerpoint/2010/main" val="1579011935"/>
              </p:ext>
            </p:extLst>
          </p:nvPr>
        </p:nvGraphicFramePr>
        <p:xfrm>
          <a:off x="6263640" y="1737360"/>
          <a:ext cx="5376672" cy="914400"/>
        </p:xfrm>
        <a:graphic>
          <a:graphicData uri="http://schemas.openxmlformats.org/drawingml/2006/table">
            <a:tbl>
              <a:tblPr/>
              <a:tblGrid>
                <a:gridCol w="2084832"/>
                <a:gridCol w="822960"/>
                <a:gridCol w="822960"/>
                <a:gridCol w="822960"/>
                <a:gridCol w="822960"/>
              </a:tblGrid>
              <a:tr h="384048">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Configuration</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Val. acc</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Val. F1</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Aro. acc</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35206B"/>
                    </a:solidFill>
                  </a:tcPr>
                </a:tc>
                <a:tc>
                  <a:txBody>
                    <a:bodyPr/>
                    <a:lstStyle/>
                    <a:p>
                      <a:pPr algn="ctr" indent="0" marL="0">
                        <a:buNone/>
                      </a:pPr>
                      <a:r>
                        <a:rPr lang="en-US" sz="1400" b="1" dirty="0">
                          <a:solidFill>
                            <a:schemeClr val="bg1"/>
                          </a:solidFill>
                          <a:latin typeface="Calibri" pitchFamily="34" charset="0"/>
                          <a:ea typeface="Calibri" pitchFamily="34" charset="-122"/>
                          <a:cs typeface="Calibri" pitchFamily="34" charset="-120"/>
                        </a:rPr>
                        <a:t>Aro. F1</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35206B"/>
                    </a:solidFill>
                  </a:tcPr>
                </a:tc>
              </a:tr>
              <a:tr h="38404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Handcrafted + LogReg</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0.73</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0.72</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0.50</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0.47</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r>
              <a:tr h="38404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Handcrafted + SVM</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0.70</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0.68</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0.53</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0.48</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CNN + LogReg</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0.63</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0.61</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0.60</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b="1" dirty="0">
                          <a:solidFill>
                            <a:schemeClr val="accent1"/>
                          </a:solidFill>
                          <a:latin typeface="Calibri" pitchFamily="34" charset="0"/>
                          <a:ea typeface="Calibri" pitchFamily="34" charset="-122"/>
                          <a:cs typeface="Calibri" pitchFamily="34" charset="-120"/>
                        </a:rPr>
                        <a:t>0.55</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r>
              <a:tr h="38404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CNN + SVM</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0.53</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0.51</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0.47</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0.40</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Handcrafted + RF</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0.50</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0.49</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0.43</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0.35</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3EFF8"/>
                    </a:solidFill>
                  </a:tcPr>
                </a:tc>
              </a:tr>
              <a:tr h="384048">
                <a:tc>
                  <a:txBody>
                    <a:bodyPr/>
                    <a:lstStyle/>
                    <a:p>
                      <a:pPr algn="l" indent="0" marL="0">
                        <a:buNone/>
                      </a:pPr>
                      <a:r>
                        <a:rPr lang="en-US" sz="1400" dirty="0">
                          <a:solidFill>
                            <a:schemeClr val="tx1"/>
                          </a:solidFill>
                          <a:latin typeface="Calibri" pitchFamily="34" charset="0"/>
                          <a:ea typeface="Calibri" pitchFamily="34" charset="-122"/>
                          <a:cs typeface="Calibri" pitchFamily="34" charset="-120"/>
                        </a:rPr>
                        <a:t>CNN + RF</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0.43</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0.38</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0.57</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400" dirty="0">
                          <a:solidFill>
                            <a:schemeClr val="tx1"/>
                          </a:solidFill>
                          <a:latin typeface="Calibri" pitchFamily="34" charset="0"/>
                          <a:ea typeface="Calibri" pitchFamily="34" charset="-122"/>
                          <a:cs typeface="Calibri" pitchFamily="34" charset="-120"/>
                        </a:rPr>
                        <a:t>0.47</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algn="l" indent="0" marL="0">
                        <a:buNone/>
                      </a:pPr>
                      <a:r>
                        <a:rPr lang="en-US" sz="1400" i="1" dirty="0">
                          <a:solidFill>
                            <a:schemeClr val="tx1"/>
                          </a:solidFill>
                          <a:latin typeface="Calibri" pitchFamily="34" charset="0"/>
                          <a:ea typeface="Calibri" pitchFamily="34" charset="-122"/>
                          <a:cs typeface="Calibri" pitchFamily="34" charset="-120"/>
                        </a:rPr>
                        <a:t>Majority baseline</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E4DDF0"/>
                    </a:solidFill>
                  </a:tcPr>
                </a:tc>
                <a:tc>
                  <a:txBody>
                    <a:bodyPr/>
                    <a:lstStyle/>
                    <a:p>
                      <a:pPr algn="ctr" indent="0" marL="0">
                        <a:buNone/>
                      </a:pPr>
                      <a:r>
                        <a:rPr lang="en-US" sz="1400" i="1" dirty="0">
                          <a:solidFill>
                            <a:schemeClr val="tx1"/>
                          </a:solidFill>
                          <a:latin typeface="Calibri" pitchFamily="34" charset="0"/>
                          <a:ea typeface="Calibri" pitchFamily="34" charset="-122"/>
                          <a:cs typeface="Calibri" pitchFamily="34" charset="-120"/>
                        </a:rPr>
                        <a:t>0.60</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E4DDF0"/>
                    </a:solidFill>
                  </a:tcPr>
                </a:tc>
                <a:tc>
                  <a:txBody>
                    <a:bodyPr/>
                    <a:lstStyle/>
                    <a:p>
                      <a:pPr algn="ctr" indent="0" marL="0">
                        <a:buNone/>
                      </a:pPr>
                      <a:r>
                        <a:rPr lang="en-US" sz="1400" i="1" dirty="0">
                          <a:solidFill>
                            <a:schemeClr val="tx1"/>
                          </a:solidFill>
                          <a:latin typeface="Calibri" pitchFamily="34" charset="0"/>
                          <a:ea typeface="Calibri" pitchFamily="34" charset="-122"/>
                          <a:cs typeface="Calibri" pitchFamily="34" charset="-120"/>
                        </a:rPr>
                        <a:t>0.38</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E4DDF0"/>
                    </a:solidFill>
                  </a:tcPr>
                </a:tc>
                <a:tc>
                  <a:txBody>
                    <a:bodyPr/>
                    <a:lstStyle/>
                    <a:p>
                      <a:pPr algn="ctr" indent="0" marL="0">
                        <a:buNone/>
                      </a:pPr>
                      <a:r>
                        <a:rPr lang="en-US" sz="1400" i="1" dirty="0">
                          <a:solidFill>
                            <a:schemeClr val="tx1"/>
                          </a:solidFill>
                          <a:latin typeface="Calibri" pitchFamily="34" charset="0"/>
                          <a:ea typeface="Calibri" pitchFamily="34" charset="-122"/>
                          <a:cs typeface="Calibri" pitchFamily="34" charset="-120"/>
                        </a:rPr>
                        <a:t>0.67</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E4DDF0"/>
                    </a:solidFill>
                  </a:tcPr>
                </a:tc>
                <a:tc>
                  <a:txBody>
                    <a:bodyPr/>
                    <a:lstStyle/>
                    <a:p>
                      <a:pPr algn="ctr" indent="0" marL="0">
                        <a:buNone/>
                      </a:pPr>
                      <a:r>
                        <a:rPr lang="en-US" sz="1400" i="1" dirty="0">
                          <a:solidFill>
                            <a:schemeClr val="tx1"/>
                          </a:solidFill>
                          <a:latin typeface="Calibri" pitchFamily="34" charset="0"/>
                          <a:ea typeface="Calibri" pitchFamily="34" charset="-122"/>
                          <a:cs typeface="Calibri" pitchFamily="34" charset="-120"/>
                        </a:rPr>
                        <a:t>0.40</a:t>
                      </a:r>
                      <a:endParaRPr lang="en-US" sz="1400" dirty="0">
                        <a:latin typeface="Calibri" charset="0"/>
                        <a:ea typeface="Calibri" charset="0"/>
                        <a:cs typeface="Calibri" charset="0"/>
                      </a:endParaRPr>
                    </a:p>
                  </a:txBody>
                  <a:tcPr marL="91440" marR="54864" marT="0" marB="0" anchor="ctr">
                    <a:lnL w="0" cap="flat" cmpd="sng" algn="ctr">
                      <a:noFill/>
                    </a:lnL>
                    <a:lnR w="0" cap="flat" cmpd="sng" algn="ctr">
                      <a:noFill/>
                    </a:lnR>
                    <a:lnT w="0" cap="flat" cmpd="sng" algn="ctr">
                      <a:noFill/>
                    </a:lnT>
                    <a:lnB w="0" cap="flat" cmpd="sng" algn="ctr">
                      <a:noFill/>
                    </a:lnB>
                    <a:solidFill>
                      <a:srgbClr val="E4DDF0"/>
                    </a:solidFill>
                  </a:tcPr>
                </a:tc>
              </a:tr>
            </a:tbl>
          </a:graphicData>
        </a:graphic>
      </p:graphicFrame>
      <p:sp>
        <p:nvSpPr>
          <p:cNvPr id="35" name="Significance 1"/>
          <p:cNvSpPr/>
          <p:nvPr/>
        </p:nvSpPr>
        <p:spPr>
          <a:xfrm>
            <a:off x="6263640" y="4983480"/>
            <a:ext cx="5376672" cy="512064"/>
          </a:xfrm>
          <a:prstGeom prst="roundRect">
            <a:avLst>
              <a:gd name="adj" fmla="val 17857"/>
            </a:avLst>
          </a:prstGeom>
          <a:solidFill>
            <a:schemeClr val="accent1"/>
          </a:solidFill>
          <a:ln/>
        </p:spPr>
      </p:sp>
      <p:sp>
        <p:nvSpPr>
          <p:cNvPr id="36" name="Significance 1 text"/>
          <p:cNvSpPr txBox="1"/>
          <p:nvPr/>
        </p:nvSpPr>
        <p:spPr>
          <a:xfrm>
            <a:off x="6446520" y="4983480"/>
            <a:ext cx="5120640" cy="512064"/>
          </a:xfrm>
          <a:prstGeom prst="rect">
            <a:avLst/>
          </a:prstGeom>
          <a:noFill/>
          <a:ln/>
        </p:spPr>
        <p:txBody>
          <a:bodyPr wrap="square" lIns="0" tIns="0" rIns="0" bIns="0" rtlCol="0" anchor="ctr"/>
          <a:lstStyle/>
          <a:p>
            <a:pPr indent="0" marL="0">
              <a:buNone/>
            </a:pPr>
            <a:r>
              <a:rPr lang="en-US" sz="1300" b="1" dirty="0">
                <a:solidFill>
                  <a:schemeClr val="bg1"/>
                </a:solidFill>
              </a:rPr>
              <a:t>Valence: p = 0.018  </a:t>
            </a:r>
            <a:pPr indent="0" marL="0">
              <a:buNone/>
            </a:pPr>
            <a:r>
              <a:rPr lang="en-US" sz="1300" dirty="0">
                <a:solidFill>
                  <a:schemeClr val="bg1"/>
                </a:solidFill>
              </a:rPr>
              <a:t>(B = 1000); 95% CI 55.6–85.8% includes 60%</a:t>
            </a:r>
            <a:endParaRPr lang="en-US" sz="1300" dirty="0"/>
          </a:p>
        </p:txBody>
      </p:sp>
      <p:sp>
        <p:nvSpPr>
          <p:cNvPr id="37" name="Significance 2"/>
          <p:cNvSpPr/>
          <p:nvPr/>
        </p:nvSpPr>
        <p:spPr>
          <a:xfrm>
            <a:off x="6263640" y="5586984"/>
            <a:ext cx="5376672" cy="512064"/>
          </a:xfrm>
          <a:prstGeom prst="roundRect">
            <a:avLst>
              <a:gd name="adj" fmla="val 17857"/>
            </a:avLst>
          </a:prstGeom>
          <a:solidFill>
            <a:schemeClr val="accent3"/>
          </a:solidFill>
          <a:ln/>
        </p:spPr>
      </p:sp>
      <p:sp>
        <p:nvSpPr>
          <p:cNvPr id="38" name="Significance 2 text"/>
          <p:cNvSpPr txBox="1"/>
          <p:nvPr/>
        </p:nvSpPr>
        <p:spPr>
          <a:xfrm>
            <a:off x="6446520" y="5586984"/>
            <a:ext cx="5120640" cy="512064"/>
          </a:xfrm>
          <a:prstGeom prst="rect">
            <a:avLst/>
          </a:prstGeom>
          <a:noFill/>
          <a:ln/>
        </p:spPr>
        <p:txBody>
          <a:bodyPr wrap="square" lIns="0" tIns="0" rIns="0" bIns="0" rtlCol="0" anchor="ctr"/>
          <a:lstStyle/>
          <a:p>
            <a:pPr indent="0" marL="0">
              <a:buNone/>
            </a:pPr>
            <a:r>
              <a:rPr lang="en-US" sz="1300" b="1" dirty="0">
                <a:solidFill>
                  <a:schemeClr val="bg1"/>
                </a:solidFill>
              </a:rPr>
              <a:t>Arousal: p = 0.30  </a:t>
            </a:r>
            <a:pPr indent="0" marL="0">
              <a:buNone/>
            </a:pPr>
            <a:r>
              <a:rPr lang="en-US" sz="1300" dirty="0">
                <a:solidFill>
                  <a:schemeClr val="bg1"/>
                </a:solidFill>
              </a:rPr>
              <a:t>60% accuracy, below the 66.7% baseline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bg1"/>
                </a:solidFill>
              </a:rPr>
              <a:t>7. Findings and Limitations</a:t>
            </a:r>
            <a:endParaRPr lang="en-US" sz="3400" dirty="0"/>
          </a:p>
        </p:txBody>
      </p:sp>
      <p:sp>
        <p:nvSpPr>
          <p:cNvPr id="3" name="Findings card"/>
          <p:cNvSpPr/>
          <p:nvPr/>
        </p:nvSpPr>
        <p:spPr>
          <a:xfrm>
            <a:off x="548640" y="1371600"/>
            <a:ext cx="3547872" cy="4754880"/>
          </a:xfrm>
          <a:prstGeom prst="roundRect">
            <a:avLst>
              <a:gd name="adj" fmla="val 3093"/>
            </a:avLst>
          </a:prstGeom>
          <a:solidFill>
            <a:schemeClr val="accent3"/>
          </a:solidFill>
          <a:ln/>
        </p:spPr>
      </p:sp>
      <p:sp>
        <p:nvSpPr>
          <p:cNvPr id="4" name="Findings circle"/>
          <p:cNvSpPr/>
          <p:nvPr/>
        </p:nvSpPr>
        <p:spPr>
          <a:xfrm>
            <a:off x="822960" y="1600200"/>
            <a:ext cx="566928" cy="566928"/>
          </a:xfrm>
          <a:prstGeom prst="ellipse">
            <a:avLst/>
          </a:prstGeom>
          <a:solidFill>
            <a:schemeClr val="accent1"/>
          </a:solidFill>
          <a:ln/>
        </p:spPr>
      </p:sp>
      <p:pic>
        <p:nvPicPr>
          <p:cNvPr id="5" name="Findings icon" descr="Findings">    </p:cNvPr>
          <p:cNvPicPr>
            <a:picLocks noChangeAspect="1"/>
          </p:cNvPicPr>
          <p:nvPr/>
        </p:nvPicPr>
        <p:blipFill>
          <a:blip r:embed="rId1"/>
          <a:stretch>
            <a:fillRect/>
          </a:stretch>
        </p:blipFill>
        <p:spPr>
          <a:xfrm>
            <a:off x="964692" y="1741932"/>
            <a:ext cx="283464" cy="283464"/>
          </a:xfrm>
          <a:prstGeom prst="rect">
            <a:avLst/>
          </a:prstGeom>
        </p:spPr>
      </p:pic>
      <p:sp>
        <p:nvSpPr>
          <p:cNvPr id="6" name="Findings heading"/>
          <p:cNvSpPr txBox="1"/>
          <p:nvPr/>
        </p:nvSpPr>
        <p:spPr>
          <a:xfrm>
            <a:off x="1536192" y="1600200"/>
            <a:ext cx="2377440" cy="566928"/>
          </a:xfrm>
          <a:prstGeom prst="rect">
            <a:avLst/>
          </a:prstGeom>
          <a:noFill/>
          <a:ln/>
        </p:spPr>
        <p:txBody>
          <a:bodyPr wrap="square" lIns="0" tIns="0" rIns="0" bIns="0" rtlCol="0" anchor="ctr"/>
          <a:lstStyle/>
          <a:p>
            <a:pPr indent="0" marL="0">
              <a:buNone/>
            </a:pPr>
            <a:r>
              <a:rPr lang="en-US" sz="2100" b="1" dirty="0">
                <a:solidFill>
                  <a:schemeClr val="bg1"/>
                </a:solidFill>
              </a:rPr>
              <a:t>Findings</a:t>
            </a:r>
            <a:endParaRPr lang="en-US" sz="2100" dirty="0"/>
          </a:p>
        </p:txBody>
      </p:sp>
      <p:sp>
        <p:nvSpPr>
          <p:cNvPr id="7" name="Findings bullets"/>
          <p:cNvSpPr txBox="1"/>
          <p:nvPr/>
        </p:nvSpPr>
        <p:spPr>
          <a:xfrm>
            <a:off x="822960" y="2423160"/>
            <a:ext cx="3063240" cy="356616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chemeClr val="bg1"/>
                </a:solidFill>
              </a:rPr>
              <a:t>Valence: 73.3% vs 60% (p = 0.018)</a:t>
            </a:r>
            <a:endParaRPr lang="en-US" sz="1700" dirty="0"/>
          </a:p>
          <a:p>
            <a:pPr marL="228600" indent="-228600">
              <a:spcAft>
                <a:spcPts val="1400"/>
              </a:spcAft>
              <a:buSzPct val="100000"/>
              <a:buChar char="•"/>
            </a:pPr>
            <a:r>
              <a:rPr lang="en-US" sz="1700" dirty="0">
                <a:solidFill>
                  <a:schemeClr val="bg1"/>
                </a:solidFill>
              </a:rPr>
              <a:t>CI includes baseline: suggestive only</a:t>
            </a:r>
            <a:endParaRPr lang="en-US" sz="1700" dirty="0"/>
          </a:p>
          <a:p>
            <a:pPr marL="228600" indent="-228600">
              <a:spcAft>
                <a:spcPts val="1400"/>
              </a:spcAft>
              <a:buSzPct val="100000"/>
              <a:buChar char="•"/>
            </a:pPr>
            <a:r>
              <a:rPr lang="en-US" sz="1700" dirty="0">
                <a:solidFill>
                  <a:schemeClr val="bg1"/>
                </a:solidFill>
              </a:rPr>
              <a:t>Arousal: no signal above baseline</a:t>
            </a:r>
            <a:endParaRPr lang="en-US" sz="1700" dirty="0"/>
          </a:p>
          <a:p>
            <a:pPr marL="228600" indent="-228600">
              <a:spcAft>
                <a:spcPts val="1400"/>
              </a:spcAft>
              <a:buSzPct val="100000"/>
              <a:buChar char="•"/>
            </a:pPr>
            <a:r>
              <a:rPr lang="en-US" sz="1700" dirty="0">
                <a:solidFill>
                  <a:schemeClr val="bg1"/>
                </a:solidFill>
              </a:rPr>
              <a:t>Word-centring drops valence F1 to 0.58</a:t>
            </a:r>
            <a:endParaRPr lang="en-US" sz="1700" dirty="0"/>
          </a:p>
          <a:p>
            <a:pPr marL="228600" indent="-228600">
              <a:spcAft>
                <a:spcPts val="1400"/>
              </a:spcAft>
              <a:buSzPct val="100000"/>
              <a:buChar char="•"/>
            </a:pPr>
            <a:r>
              <a:rPr lang="en-US" sz="1700" dirty="0">
                <a:solidFill>
                  <a:schemeClr val="bg1"/>
                </a:solidFill>
              </a:rPr>
              <a:t>Heavy acoustic overlap; no single marker</a:t>
            </a:r>
            <a:endParaRPr lang="en-US" sz="1700" dirty="0"/>
          </a:p>
        </p:txBody>
      </p:sp>
      <p:sp>
        <p:nvSpPr>
          <p:cNvPr id="8" name="Limitations card"/>
          <p:cNvSpPr/>
          <p:nvPr/>
        </p:nvSpPr>
        <p:spPr>
          <a:xfrm>
            <a:off x="4325112" y="1371600"/>
            <a:ext cx="3547872" cy="4754880"/>
          </a:xfrm>
          <a:prstGeom prst="roundRect">
            <a:avLst>
              <a:gd name="adj" fmla="val 3093"/>
            </a:avLst>
          </a:prstGeom>
          <a:solidFill>
            <a:schemeClr val="accent3"/>
          </a:solidFill>
          <a:ln/>
        </p:spPr>
      </p:sp>
      <p:sp>
        <p:nvSpPr>
          <p:cNvPr id="9" name="Limitations circle"/>
          <p:cNvSpPr/>
          <p:nvPr/>
        </p:nvSpPr>
        <p:spPr>
          <a:xfrm>
            <a:off x="4599432" y="1600200"/>
            <a:ext cx="566928" cy="566928"/>
          </a:xfrm>
          <a:prstGeom prst="ellipse">
            <a:avLst/>
          </a:prstGeom>
          <a:solidFill>
            <a:schemeClr val="accent2"/>
          </a:solidFill>
          <a:ln/>
        </p:spPr>
      </p:sp>
      <p:pic>
        <p:nvPicPr>
          <p:cNvPr id="10" name="Limitations icon" descr="Limitations">    </p:cNvPr>
          <p:cNvPicPr>
            <a:picLocks noChangeAspect="1"/>
          </p:cNvPicPr>
          <p:nvPr/>
        </p:nvPicPr>
        <p:blipFill>
          <a:blip r:embed="rId2"/>
          <a:stretch>
            <a:fillRect/>
          </a:stretch>
        </p:blipFill>
        <p:spPr>
          <a:xfrm>
            <a:off x="4741164" y="1741932"/>
            <a:ext cx="283464" cy="283464"/>
          </a:xfrm>
          <a:prstGeom prst="rect">
            <a:avLst/>
          </a:prstGeom>
        </p:spPr>
      </p:pic>
      <p:sp>
        <p:nvSpPr>
          <p:cNvPr id="11" name="Limitations heading"/>
          <p:cNvSpPr txBox="1"/>
          <p:nvPr/>
        </p:nvSpPr>
        <p:spPr>
          <a:xfrm>
            <a:off x="5312664" y="1600200"/>
            <a:ext cx="2377440" cy="566928"/>
          </a:xfrm>
          <a:prstGeom prst="rect">
            <a:avLst/>
          </a:prstGeom>
          <a:noFill/>
          <a:ln/>
        </p:spPr>
        <p:txBody>
          <a:bodyPr wrap="square" lIns="0" tIns="0" rIns="0" bIns="0" rtlCol="0" anchor="ctr"/>
          <a:lstStyle/>
          <a:p>
            <a:pPr indent="0" marL="0">
              <a:buNone/>
            </a:pPr>
            <a:r>
              <a:rPr lang="en-US" sz="2100" b="1" dirty="0">
                <a:solidFill>
                  <a:schemeClr val="bg1"/>
                </a:solidFill>
              </a:rPr>
              <a:t>Limitations</a:t>
            </a:r>
            <a:endParaRPr lang="en-US" sz="2100" dirty="0"/>
          </a:p>
        </p:txBody>
      </p:sp>
      <p:sp>
        <p:nvSpPr>
          <p:cNvPr id="12" name="Limitations bullets"/>
          <p:cNvSpPr txBox="1"/>
          <p:nvPr/>
        </p:nvSpPr>
        <p:spPr>
          <a:xfrm>
            <a:off x="4599432" y="2423160"/>
            <a:ext cx="3063240" cy="356616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chemeClr val="bg1"/>
                </a:solidFill>
              </a:rPr>
              <a:t>Only 30 of 40 required observations</a:t>
            </a:r>
            <a:endParaRPr lang="en-US" sz="1700" dirty="0"/>
          </a:p>
          <a:p>
            <a:pPr marL="228600" indent="-228600">
              <a:spcAft>
                <a:spcPts val="1400"/>
              </a:spcAft>
              <a:buSzPct val="100000"/>
              <a:buChar char="•"/>
            </a:pPr>
            <a:r>
              <a:rPr lang="en-US" sz="1700" dirty="0">
                <a:solidFill>
                  <a:schemeClr val="bg1"/>
                </a:solidFill>
              </a:rPr>
              <a:t>First-year only; one recording each</a:t>
            </a:r>
            <a:endParaRPr lang="en-US" sz="1700" dirty="0"/>
          </a:p>
          <a:p>
            <a:pPr marL="228600" indent="-228600">
              <a:spcAft>
                <a:spcPts val="1400"/>
              </a:spcAft>
              <a:buSzPct val="100000"/>
              <a:buChar char="•"/>
            </a:pPr>
            <a:r>
              <a:rPr lang="en-US" sz="1700" dirty="0">
                <a:solidFill>
                  <a:schemeClr val="bg1"/>
                </a:solidFill>
              </a:rPr>
              <a:t>Kapoy is 43%; “Libog” off-protocol</a:t>
            </a:r>
            <a:endParaRPr lang="en-US" sz="1700" dirty="0"/>
          </a:p>
          <a:p>
            <a:pPr marL="228600" indent="-228600">
              <a:spcAft>
                <a:spcPts val="1400"/>
              </a:spcAft>
              <a:buSzPct val="100000"/>
              <a:buChar char="•"/>
            </a:pPr>
            <a:r>
              <a:rPr lang="en-US" sz="1700" dirty="0">
                <a:solidFill>
                  <a:schemeClr val="bg1"/>
                </a:solidFill>
              </a:rPr>
              <a:t>Best of six chosen on test data</a:t>
            </a:r>
            <a:endParaRPr lang="en-US" sz="1700" dirty="0"/>
          </a:p>
          <a:p>
            <a:pPr marL="228600" indent="-228600">
              <a:spcAft>
                <a:spcPts val="1400"/>
              </a:spcAft>
              <a:buSzPct val="100000"/>
              <a:buChar char="•"/>
            </a:pPr>
            <a:r>
              <a:rPr lang="en-US" sz="1700" dirty="0">
                <a:solidFill>
                  <a:schemeClr val="bg1"/>
                </a:solidFill>
              </a:rPr>
              <a:t>Some clips include extra non-word sound</a:t>
            </a:r>
            <a:endParaRPr lang="en-US" sz="1700" dirty="0"/>
          </a:p>
        </p:txBody>
      </p:sp>
      <p:sp>
        <p:nvSpPr>
          <p:cNvPr id="13" name="Recommendations card"/>
          <p:cNvSpPr/>
          <p:nvPr/>
        </p:nvSpPr>
        <p:spPr>
          <a:xfrm>
            <a:off x="8101584" y="1371600"/>
            <a:ext cx="3547872" cy="4754880"/>
          </a:xfrm>
          <a:prstGeom prst="roundRect">
            <a:avLst>
              <a:gd name="adj" fmla="val 3093"/>
            </a:avLst>
          </a:prstGeom>
          <a:solidFill>
            <a:schemeClr val="accent3"/>
          </a:solidFill>
          <a:ln/>
        </p:spPr>
      </p:sp>
      <p:sp>
        <p:nvSpPr>
          <p:cNvPr id="14" name="Recommendations circle"/>
          <p:cNvSpPr/>
          <p:nvPr/>
        </p:nvSpPr>
        <p:spPr>
          <a:xfrm>
            <a:off x="8375904" y="1600200"/>
            <a:ext cx="566928" cy="566928"/>
          </a:xfrm>
          <a:prstGeom prst="ellipse">
            <a:avLst/>
          </a:prstGeom>
          <a:solidFill>
            <a:schemeClr val="accent4"/>
          </a:solidFill>
          <a:ln/>
        </p:spPr>
      </p:sp>
      <p:pic>
        <p:nvPicPr>
          <p:cNvPr id="15" name="Recommendations icon" descr="Recommendations">    </p:cNvPr>
          <p:cNvPicPr>
            <a:picLocks noChangeAspect="1"/>
          </p:cNvPicPr>
          <p:nvPr/>
        </p:nvPicPr>
        <p:blipFill>
          <a:blip r:embed="rId3"/>
          <a:stretch>
            <a:fillRect/>
          </a:stretch>
        </p:blipFill>
        <p:spPr>
          <a:xfrm>
            <a:off x="8517636" y="1741932"/>
            <a:ext cx="283464" cy="283464"/>
          </a:xfrm>
          <a:prstGeom prst="rect">
            <a:avLst/>
          </a:prstGeom>
        </p:spPr>
      </p:pic>
      <p:sp>
        <p:nvSpPr>
          <p:cNvPr id="16" name="Recommendations heading"/>
          <p:cNvSpPr txBox="1"/>
          <p:nvPr/>
        </p:nvSpPr>
        <p:spPr>
          <a:xfrm>
            <a:off x="9089136" y="1600200"/>
            <a:ext cx="2377440" cy="566928"/>
          </a:xfrm>
          <a:prstGeom prst="rect">
            <a:avLst/>
          </a:prstGeom>
          <a:noFill/>
          <a:ln/>
        </p:spPr>
        <p:txBody>
          <a:bodyPr wrap="square" lIns="0" tIns="0" rIns="0" bIns="0" rtlCol="0" anchor="ctr"/>
          <a:lstStyle/>
          <a:p>
            <a:pPr indent="0" marL="0">
              <a:buNone/>
            </a:pPr>
            <a:r>
              <a:rPr lang="en-US" sz="2100" b="1" dirty="0">
                <a:solidFill>
                  <a:schemeClr val="bg1"/>
                </a:solidFill>
              </a:rPr>
              <a:t>Recommendations</a:t>
            </a:r>
            <a:endParaRPr lang="en-US" sz="2100" dirty="0"/>
          </a:p>
        </p:txBody>
      </p:sp>
      <p:sp>
        <p:nvSpPr>
          <p:cNvPr id="17" name="Recommendations bullets"/>
          <p:cNvSpPr txBox="1"/>
          <p:nvPr/>
        </p:nvSpPr>
        <p:spPr>
          <a:xfrm>
            <a:off x="8375904" y="2423160"/>
            <a:ext cx="3063240" cy="356616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chemeClr val="bg1"/>
                </a:solidFill>
              </a:rPr>
              <a:t>Pool class dataset (≥ 280 recordings)</a:t>
            </a:r>
            <a:endParaRPr lang="en-US" sz="1700" dirty="0"/>
          </a:p>
          <a:p>
            <a:pPr marL="228600" indent="-228600">
              <a:spcAft>
                <a:spcPts val="1400"/>
              </a:spcAft>
              <a:buSzPct val="100000"/>
              <a:buChar char="•"/>
            </a:pPr>
            <a:r>
              <a:rPr lang="en-US" sz="1700" dirty="0">
                <a:solidFill>
                  <a:schemeClr val="bg1"/>
                </a:solidFill>
              </a:rPr>
              <a:t>Balance words across affect levels</a:t>
            </a:r>
            <a:endParaRPr lang="en-US" sz="1700" dirty="0"/>
          </a:p>
          <a:p>
            <a:pPr marL="228600" indent="-228600">
              <a:spcAft>
                <a:spcPts val="1400"/>
              </a:spcAft>
              <a:buSzPct val="100000"/>
              <a:buChar char="•"/>
            </a:pPr>
            <a:r>
              <a:rPr lang="en-US" sz="1700" dirty="0">
                <a:solidFill>
                  <a:schemeClr val="bg1"/>
                </a:solidFill>
              </a:rPr>
              <a:t>Hold out data for model selection</a:t>
            </a:r>
            <a:endParaRPr lang="en-US" sz="1700" dirty="0"/>
          </a:p>
          <a:p>
            <a:pPr marL="228600" indent="-228600">
              <a:spcAft>
                <a:spcPts val="1400"/>
              </a:spcAft>
              <a:buSzPct val="100000"/>
              <a:buChar char="•"/>
            </a:pPr>
            <a:r>
              <a:rPr lang="en-US" sz="1700" dirty="0">
                <a:solidFill>
                  <a:schemeClr val="bg1"/>
                </a:solidFill>
              </a:rPr>
              <a:t>Fixed microphone and recording setup</a:t>
            </a:r>
            <a:endParaRPr lang="en-US" sz="1700" dirty="0"/>
          </a:p>
          <a:p>
            <a:pPr marL="228600" indent="-228600">
              <a:spcAft>
                <a:spcPts val="1400"/>
              </a:spcAft>
              <a:buSzPct val="100000"/>
              <a:buChar char="•"/>
            </a:pPr>
            <a:r>
              <a:rPr lang="en-US" sz="1700" dirty="0">
                <a:solidFill>
                  <a:schemeClr val="bg1"/>
                </a:solidFill>
              </a:rPr>
              <a:t>Trim clips; recheck duration effect</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Magma Speech">
  <a:themeElements>
    <a:clrScheme name="Magma Speech">
      <a:dk1>
        <a:srgbClr val="1B1035"/>
      </a:dk1>
      <a:lt1>
        <a:srgbClr val="FFFFFF"/>
      </a:lt1>
      <a:dk2>
        <a:srgbClr val="4A4462"/>
      </a:dk2>
      <a:lt2>
        <a:srgbClr val="F3EFF8"/>
      </a:lt2>
      <a:accent1>
        <a:srgbClr val="B5367A"/>
      </a:accent1>
      <a:accent2>
        <a:srgbClr val="E8683A"/>
      </a:accent2>
      <a:accent3>
        <a:srgbClr val="35206B"/>
      </a:accent3>
      <a:accent4>
        <a:srgbClr val="F9B95C"/>
      </a:accent4>
      <a:accent5>
        <a:srgbClr val="7A6F94"/>
      </a:accent5>
      <a:accent6>
        <a:srgbClr val="E4DDF0"/>
      </a:accent6>
      <a:hlink>
        <a:srgbClr val="B5367A"/>
      </a:hlink>
      <a:folHlink>
        <a:srgbClr val="35206B"/>
      </a:folHlink>
    </a:clrScheme>
    <a:fontScheme name="Magma Spee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Bisaya Post-Class Speech and Affect Recognition</dc:title>
  <dc:subject>CS412 Affective Computing Research Mini-Project</dc:subject>
  <dc:creator>Group 1</dc:creator>
  <cp:lastModifiedBy>Group 1</cp:lastModifiedBy>
  <cp:revision>1</cp:revision>
  <dcterms:created xsi:type="dcterms:W3CDTF">2026-10-10T13:49:19Z</dcterms:created>
  <dcterms:modified xsi:type="dcterms:W3CDTF">2026-10-10T13:49:19Z</dcterms:modified>
</cp:coreProperties>
</file>